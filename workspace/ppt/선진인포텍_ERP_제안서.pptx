
<file path=[Content_Types].xml><?xml version="1.0" encoding="utf-8"?>
<Types xmlns="http://schemas.openxmlformats.org/package/2006/content-types">
  <Default Extension="xml" ContentType="application/xml"/>
  <Default Extension="fntdata" ContentType="application/x-fontdata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82826" y="1436638"/>
            <a:ext cx="43781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500"/>
              </a:spcAft>
              <a:buNone/>
            </a:pPr>
            <a:r>
              <a:rPr lang="en-US" sz="1400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SUNJIN INFOTECH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382826" y="1836688"/>
            <a:ext cx="43781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 시스템 구축 제안서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382826" y="2497038"/>
            <a:ext cx="437819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1600" dirty="0">
                <a:solidFill>
                  <a:srgbClr val="AAB7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경영 정보 시스템 도입을 통한 업무 혁신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3901" y="3116163"/>
            <a:ext cx="1015901" cy="38100"/>
          </a:xfrm>
          <a:prstGeom prst="rect">
            <a:avLst/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382826" y="3535263"/>
            <a:ext cx="4378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1월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3174802" cy="5143500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959322"/>
            <a:ext cx="25906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500"/>
              </a:spcAft>
              <a:buNone/>
            </a:pPr>
            <a:r>
              <a:rPr lang="en-US" sz="1200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17450" y="2635597"/>
            <a:ext cx="2590699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spcBef>
                <a:spcPts val="2400"/>
              </a:spcBef>
              <a:spcAft>
                <a:spcPts val="2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19202" y="674936"/>
            <a:ext cx="355550" cy="355550"/>
          </a:xfrm>
          <a:prstGeom prst="roundRect">
            <a:avLst>
              <a:gd name="adj" fmla="val 50007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755231" y="743248"/>
            <a:ext cx="85011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65253" y="713036"/>
            <a:ext cx="239456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 현황 분석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65253" y="982861"/>
            <a:ext cx="239456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선진인포텍 비즈니스 환경 및 요구사항 분석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19202" y="1433661"/>
            <a:ext cx="355550" cy="355550"/>
          </a:xfrm>
          <a:prstGeom prst="roundRect">
            <a:avLst>
              <a:gd name="adj" fmla="val 50007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742730" y="1501973"/>
            <a:ext cx="11066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65253" y="1471761"/>
            <a:ext cx="174332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 도입 필요성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65253" y="1741587"/>
            <a:ext cx="17433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경영 시스템의 전략적 가치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9202" y="2192387"/>
            <a:ext cx="355550" cy="355550"/>
          </a:xfrm>
          <a:prstGeom prst="roundRect">
            <a:avLst>
              <a:gd name="adj" fmla="val 50007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740200" y="2260699"/>
            <a:ext cx="11582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65253" y="2230487"/>
            <a:ext cx="153292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구성 및 기능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65253" y="2500313"/>
            <a:ext cx="15329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모듈 및 주요 기능 소개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19202" y="2951113"/>
            <a:ext cx="355550" cy="355550"/>
          </a:xfrm>
          <a:prstGeom prst="roundRect">
            <a:avLst>
              <a:gd name="adj" fmla="val 50007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738563" y="3019425"/>
            <a:ext cx="11916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65253" y="2989213"/>
            <a:ext cx="13739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구축 방법론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165253" y="3259038"/>
            <a:ext cx="13739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단계별 추진 전략 및 일정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19202" y="3709839"/>
            <a:ext cx="355550" cy="355550"/>
          </a:xfrm>
          <a:prstGeom prst="roundRect">
            <a:avLst>
              <a:gd name="adj" fmla="val 50007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1241" y="3778151"/>
            <a:ext cx="11370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165253" y="3747939"/>
            <a:ext cx="153550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비용 및 기대효과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165253" y="4017764"/>
            <a:ext cx="153550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ROI 분석 및 정량적 효과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42900"/>
            <a:ext cx="1754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06946" y="295275"/>
            <a:ext cx="192124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선진인포텍 현황 분석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44401" y="1057275"/>
            <a:ext cx="4000649" cy="808732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63451" y="1057275"/>
            <a:ext cx="0" cy="808732"/>
          </a:xfrm>
          <a:prstGeom prst="line">
            <a:avLst/>
          </a:prstGeom>
          <a:noFill/>
          <a:ln w="38100">
            <a:solidFill>
              <a:srgbClr val="3498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9451" y="1184225"/>
            <a:ext cx="378282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 개요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09451" y="1419076"/>
            <a:ext cx="37828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네트워크, 영상 분야 토탈 솔루션 제공 IT 전문기업으로 물리보안, AI 분석, 네트워크 방송 시스템 등 다양한 솔루션 사업 영위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44401" y="1992957"/>
            <a:ext cx="4000649" cy="808732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63451" y="1992957"/>
            <a:ext cx="0" cy="808732"/>
          </a:xfrm>
          <a:prstGeom prst="line">
            <a:avLst/>
          </a:prstGeom>
          <a:noFill/>
          <a:ln w="38100">
            <a:solidFill>
              <a:srgbClr val="3498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9451" y="2119908"/>
            <a:ext cx="378282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사업 분야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451" y="2354759"/>
            <a:ext cx="37828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영상/물리보안 시스템, 스마트선별관제, AI 리테일 분석, KVM/A/V 솔루션, 네트워크 데이터 보안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44401" y="2928640"/>
            <a:ext cx="4000649" cy="808732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63451" y="2928640"/>
            <a:ext cx="0" cy="808732"/>
          </a:xfrm>
          <a:prstGeom prst="line">
            <a:avLst/>
          </a:prstGeom>
          <a:noFill/>
          <a:ln w="38100">
            <a:solidFill>
              <a:srgbClr val="3498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451" y="3055590"/>
            <a:ext cx="378282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가치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9451" y="3290441"/>
            <a:ext cx="37828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전문성, 신뢰성, 개방성, 자율성, 상호존중을 바탕으로 고객과 파트너사에 최선의 서비스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98950" y="1057275"/>
            <a:ext cx="40806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조직 구성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98950" y="1355675"/>
            <a:ext cx="4000649" cy="453926"/>
          </a:xfrm>
          <a:prstGeom prst="roundRect">
            <a:avLst>
              <a:gd name="adj" fmla="val 11191"/>
            </a:avLst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825901" y="1431875"/>
            <a:ext cx="3821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경영지원부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25901" y="1609576"/>
            <a:ext cx="3821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7F8C8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관리팀, 무역팀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698950" y="1873002"/>
            <a:ext cx="4000649" cy="453926"/>
          </a:xfrm>
          <a:prstGeom prst="roundRect">
            <a:avLst>
              <a:gd name="adj" fmla="val 11191"/>
            </a:avLst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825901" y="1949202"/>
            <a:ext cx="3821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솔루션 사업부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25901" y="2126903"/>
            <a:ext cx="3821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7F8C8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1팀, 영업 2팀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98950" y="2390329"/>
            <a:ext cx="4000649" cy="453926"/>
          </a:xfrm>
          <a:prstGeom prst="roundRect">
            <a:avLst>
              <a:gd name="adj" fmla="val 11191"/>
            </a:avLst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825901" y="2466529"/>
            <a:ext cx="3821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기술부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25901" y="2644229"/>
            <a:ext cx="3821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7F8C8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 1팀, 기술 2팀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698950" y="2907655"/>
            <a:ext cx="4000649" cy="453926"/>
          </a:xfrm>
          <a:prstGeom prst="roundRect">
            <a:avLst>
              <a:gd name="adj" fmla="val 11191"/>
            </a:avLst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25901" y="2983855"/>
            <a:ext cx="3821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 사업부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25901" y="3161556"/>
            <a:ext cx="3821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7F8C8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1팀, 영업 2팀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698950" y="3424982"/>
            <a:ext cx="4000649" cy="453926"/>
          </a:xfrm>
          <a:prstGeom prst="roundRect">
            <a:avLst>
              <a:gd name="adj" fmla="val 11191"/>
            </a:avLst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25901" y="3501182"/>
            <a:ext cx="3821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기업부설 연구소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25901" y="3678882"/>
            <a:ext cx="3821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7F8C8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1팀, 연구 2팀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98950" y="3942308"/>
            <a:ext cx="4000649" cy="453926"/>
          </a:xfrm>
          <a:prstGeom prst="roundRect">
            <a:avLst>
              <a:gd name="adj" fmla="val 11191"/>
            </a:avLst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25901" y="4018508"/>
            <a:ext cx="3821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컨설팅 사업부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25901" y="4196209"/>
            <a:ext cx="3821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7F8C8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 1팀, 사업 2팀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42900"/>
            <a:ext cx="1798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11262" y="295275"/>
            <a:ext cx="196329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업무 환경의 과제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44401" y="1047750"/>
            <a:ext cx="8420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다양한 사업부 운영에 따른 업무 비효율 발생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44401" y="1409700"/>
            <a:ext cx="1920925" cy="1246882"/>
          </a:xfrm>
          <a:prstGeom prst="rect">
            <a:avLst/>
          </a:prstGeom>
          <a:solidFill>
            <a:srgbClr val="FEF9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44401" y="1428750"/>
            <a:ext cx="1920925" cy="0"/>
          </a:xfrm>
          <a:prstGeom prst="line">
            <a:avLst/>
          </a:prstGeom>
          <a:noFill/>
          <a:ln w="38100">
            <a:solidFill>
              <a:srgbClr val="F39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6801" y="1600200"/>
            <a:ext cx="16484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39C1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6801" y="1968401"/>
            <a:ext cx="16484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분산 관리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6801" y="2184202"/>
            <a:ext cx="164844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부서별 개별 시스템 운영으로 데이터 일관성 부족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55825" y="1409700"/>
            <a:ext cx="1920925" cy="1246882"/>
          </a:xfrm>
          <a:prstGeom prst="rect">
            <a:avLst/>
          </a:prstGeom>
          <a:solidFill>
            <a:srgbClr val="FEF9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2555825" y="1428750"/>
            <a:ext cx="1920925" cy="0"/>
          </a:xfrm>
          <a:prstGeom prst="line">
            <a:avLst/>
          </a:prstGeom>
          <a:noFill/>
          <a:ln w="38100">
            <a:solidFill>
              <a:srgbClr val="F39C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08225" y="1600200"/>
            <a:ext cx="16484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39C1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708225" y="1968401"/>
            <a:ext cx="16484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프로세스 단절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08225" y="2184202"/>
            <a:ext cx="164844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영업-기술-경영지원 간 정보 흐름 지연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67250" y="1409700"/>
            <a:ext cx="1920925" cy="1246882"/>
          </a:xfrm>
          <a:prstGeom prst="rect">
            <a:avLst/>
          </a:prstGeom>
          <a:solidFill>
            <a:srgbClr val="FEF9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667250" y="1428750"/>
            <a:ext cx="1920925" cy="0"/>
          </a:xfrm>
          <a:prstGeom prst="line">
            <a:avLst/>
          </a:prstGeom>
          <a:noFill/>
          <a:ln w="38100">
            <a:solidFill>
              <a:srgbClr val="F39C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9650" y="1600200"/>
            <a:ext cx="16484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39C1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819650" y="1968401"/>
            <a:ext cx="16484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수작업 의존도 높음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19650" y="2184202"/>
            <a:ext cx="164844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Excel 기반 업무로 인한 데이터 오류 발생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778675" y="1409700"/>
            <a:ext cx="1920925" cy="1246882"/>
          </a:xfrm>
          <a:prstGeom prst="rect">
            <a:avLst/>
          </a:prstGeom>
          <a:solidFill>
            <a:srgbClr val="FEF9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6778675" y="1428750"/>
            <a:ext cx="1920925" cy="0"/>
          </a:xfrm>
          <a:prstGeom prst="line">
            <a:avLst/>
          </a:prstGeom>
          <a:noFill/>
          <a:ln w="38100">
            <a:solidFill>
              <a:srgbClr val="F39C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31075" y="1600200"/>
            <a:ext cx="16484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39C1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931075" y="1968401"/>
            <a:ext cx="16484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현황 파악 한계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31075" y="2184202"/>
            <a:ext cx="164844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프로젝트, 재고, 매출 현황 모니터링 불가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1849" y="2974032"/>
            <a:ext cx="842030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4401" y="3339108"/>
            <a:ext cx="8255198" cy="425351"/>
          </a:xfrm>
          <a:prstGeom prst="roundRect">
            <a:avLst>
              <a:gd name="adj" fmla="val 17915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91338" y="3466058"/>
            <a:ext cx="81613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ERP 시스템 도입을 통한 업무 혁신 필요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84052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406301"/>
            <a:ext cx="2003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31354" y="339626"/>
            <a:ext cx="171433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 도입 필요성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44401" y="1301502"/>
            <a:ext cx="2667298" cy="837456"/>
          </a:xfrm>
          <a:prstGeom prst="roundRect">
            <a:avLst>
              <a:gd name="adj" fmla="val 909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4901" y="145390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796" y="1520577"/>
            <a:ext cx="765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2101" y="1453902"/>
            <a:ext cx="18656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표준화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2101" y="1666577"/>
            <a:ext cx="186568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전사 업무 프로세스 표준화로 일관된 업무 수행 및 품질 향상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4401" y="2291358"/>
            <a:ext cx="2667298" cy="837456"/>
          </a:xfrm>
          <a:prstGeom prst="roundRect">
            <a:avLst>
              <a:gd name="adj" fmla="val 909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4901" y="2443758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39676" y="2510433"/>
            <a:ext cx="9700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2101" y="2443758"/>
            <a:ext cx="18656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정보 공유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92101" y="2656433"/>
            <a:ext cx="186568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 간 데이터 실시간 연동으로 신속한 의사결정 지원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4401" y="3281214"/>
            <a:ext cx="2667298" cy="837456"/>
          </a:xfrm>
          <a:prstGeom prst="roundRect">
            <a:avLst>
              <a:gd name="adj" fmla="val 909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34901" y="3433614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37741" y="3500289"/>
            <a:ext cx="100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2101" y="3433614"/>
            <a:ext cx="18656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효율성 향상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2101" y="3646289"/>
            <a:ext cx="186568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업무 자동화로 핵심 업무 집중도 향상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29149" y="1301502"/>
            <a:ext cx="2285702" cy="3524548"/>
          </a:xfrm>
          <a:prstGeom prst="roundRect">
            <a:avLst>
              <a:gd name="adj" fmla="val 4445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076661" y="2667000"/>
            <a:ext cx="9906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INTEGRATED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54160" y="2930426"/>
            <a:ext cx="4356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253212" y="3197126"/>
            <a:ext cx="6374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2302" y="1301502"/>
            <a:ext cx="2667298" cy="837456"/>
          </a:xfrm>
          <a:prstGeom prst="roundRect">
            <a:avLst>
              <a:gd name="adj" fmla="val 909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22802" y="145390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324302" y="1520577"/>
            <a:ext cx="1038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680002" y="1453902"/>
            <a:ext cx="18656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기반 경영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80002" y="1666577"/>
            <a:ext cx="186568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데이터 분석으로 과학적 경영 의사결정 가능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032302" y="2291358"/>
            <a:ext cx="2667298" cy="677466"/>
          </a:xfrm>
          <a:prstGeom prst="roundRect">
            <a:avLst>
              <a:gd name="adj" fmla="val 1124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222802" y="2443758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26088" y="2510433"/>
            <a:ext cx="1001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680002" y="2443758"/>
            <a:ext cx="18656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절감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80002" y="2656433"/>
            <a:ext cx="186568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중복 업무 제거 및 운영 비용 최적화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32302" y="3121223"/>
            <a:ext cx="2667298" cy="677466"/>
          </a:xfrm>
          <a:prstGeom prst="roundRect">
            <a:avLst>
              <a:gd name="adj" fmla="val 1124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22802" y="327362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324600" y="3340298"/>
            <a:ext cx="1032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680002" y="3273623"/>
            <a:ext cx="18656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기반 구축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80002" y="3486299"/>
            <a:ext cx="186568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 가능한 시스템으로 사업 성장 지원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93577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406301"/>
            <a:ext cx="2019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32842" y="349151"/>
            <a:ext cx="168639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구성 개요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1849" y="1247477"/>
            <a:ext cx="84203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500"/>
              </a:spcAft>
              <a:buNone/>
            </a:pPr>
            <a:r>
              <a:rPr lang="en-US" sz="13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선진인포텍 맞춤형 ERP 시스템 아키텍처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44401" y="1638002"/>
            <a:ext cx="1218902" cy="609302"/>
          </a:xfrm>
          <a:prstGeom prst="roundRect">
            <a:avLst>
              <a:gd name="adj" fmla="val 8337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9248" y="1866454"/>
            <a:ext cx="3357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64804" y="1638002"/>
            <a:ext cx="2243882" cy="609302"/>
          </a:xfrm>
          <a:prstGeom prst="roundRect">
            <a:avLst>
              <a:gd name="adj" fmla="val 8337"/>
            </a:avLst>
          </a:prstGeom>
          <a:solidFill>
            <a:srgbClr val="E8F4FD"/>
          </a:solidFill>
          <a:ln w="9525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81570" y="1774478"/>
            <a:ext cx="2010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브라우저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81570" y="1977628"/>
            <a:ext cx="2010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PC/노트북 접속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110186" y="1638002"/>
            <a:ext cx="2244030" cy="609302"/>
          </a:xfrm>
          <a:prstGeom prst="roundRect">
            <a:avLst>
              <a:gd name="adj" fmla="val 8337"/>
            </a:avLst>
          </a:prstGeom>
          <a:solidFill>
            <a:srgbClr val="E8F4FD"/>
          </a:solidFill>
          <a:ln w="9525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226951" y="1774478"/>
            <a:ext cx="20105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앱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26951" y="1977628"/>
            <a:ext cx="2010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스마트폰/태블릿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455718" y="1638002"/>
            <a:ext cx="2243882" cy="609302"/>
          </a:xfrm>
          <a:prstGeom prst="roundRect">
            <a:avLst>
              <a:gd name="adj" fmla="val 8337"/>
            </a:avLst>
          </a:prstGeom>
          <a:solidFill>
            <a:srgbClr val="E8F4FD"/>
          </a:solidFill>
          <a:ln w="9525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572484" y="1774478"/>
            <a:ext cx="2010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72484" y="1977628"/>
            <a:ext cx="2010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경영진 현황판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44401" y="2374255"/>
            <a:ext cx="1218902" cy="609302"/>
          </a:xfrm>
          <a:prstGeom prst="roundRect">
            <a:avLst>
              <a:gd name="adj" fmla="val 8337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19745" y="2602706"/>
            <a:ext cx="477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모듈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764804" y="2374255"/>
            <a:ext cx="1305669" cy="609302"/>
          </a:xfrm>
          <a:prstGeom prst="roundRect">
            <a:avLst>
              <a:gd name="adj" fmla="val 8337"/>
            </a:avLst>
          </a:prstGeom>
          <a:solidFill>
            <a:srgbClr val="3498DB"/>
          </a:solidFill>
          <a:ln w="9525">
            <a:solidFill>
              <a:srgbClr val="2980B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890952" y="2510730"/>
            <a:ext cx="1053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영업관리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90952" y="2713881"/>
            <a:ext cx="10533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F4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견적/수주/고객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171974" y="2374255"/>
            <a:ext cx="1305818" cy="609302"/>
          </a:xfrm>
          <a:prstGeom prst="roundRect">
            <a:avLst>
              <a:gd name="adj" fmla="val 8337"/>
            </a:avLst>
          </a:prstGeom>
          <a:solidFill>
            <a:srgbClr val="3498DB"/>
          </a:solidFill>
          <a:ln w="9525">
            <a:solidFill>
              <a:srgbClr val="2980B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298121" y="2510730"/>
            <a:ext cx="1053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프로젝트관리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98121" y="2713881"/>
            <a:ext cx="10535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F4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일정/인력/진척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9293" y="2374255"/>
            <a:ext cx="1305669" cy="609302"/>
          </a:xfrm>
          <a:prstGeom prst="roundRect">
            <a:avLst>
              <a:gd name="adj" fmla="val 8337"/>
            </a:avLst>
          </a:prstGeom>
          <a:solidFill>
            <a:srgbClr val="3498DB"/>
          </a:solidFill>
          <a:ln w="9525">
            <a:solidFill>
              <a:srgbClr val="2980B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705441" y="2510730"/>
            <a:ext cx="1053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재고/구매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05441" y="2713881"/>
            <a:ext cx="10533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F4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자재/발주/입출고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86463" y="2374255"/>
            <a:ext cx="1305818" cy="609302"/>
          </a:xfrm>
          <a:prstGeom prst="roundRect">
            <a:avLst>
              <a:gd name="adj" fmla="val 8337"/>
            </a:avLst>
          </a:prstGeom>
          <a:solidFill>
            <a:srgbClr val="3498DB"/>
          </a:solidFill>
          <a:ln w="9525">
            <a:solidFill>
              <a:srgbClr val="2980B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112609" y="2510730"/>
            <a:ext cx="1053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회계/재무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12609" y="2713881"/>
            <a:ext cx="10535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F4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전표/결산/원가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393781" y="2374255"/>
            <a:ext cx="1305818" cy="609302"/>
          </a:xfrm>
          <a:prstGeom prst="roundRect">
            <a:avLst>
              <a:gd name="adj" fmla="val 8337"/>
            </a:avLst>
          </a:prstGeom>
          <a:solidFill>
            <a:srgbClr val="3498DB"/>
          </a:solidFill>
          <a:ln w="9525">
            <a:solidFill>
              <a:srgbClr val="2980B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519928" y="2510730"/>
            <a:ext cx="1053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인사/급여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519928" y="2713881"/>
            <a:ext cx="10535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F4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근태/급여/평가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44401" y="3110508"/>
            <a:ext cx="1218902" cy="609302"/>
          </a:xfrm>
          <a:prstGeom prst="roundRect">
            <a:avLst>
              <a:gd name="adj" fmla="val 8337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19745" y="3338959"/>
            <a:ext cx="477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모듈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764804" y="3110508"/>
            <a:ext cx="1657499" cy="609302"/>
          </a:xfrm>
          <a:prstGeom prst="roundRect">
            <a:avLst>
              <a:gd name="adj" fmla="val 8337"/>
            </a:avLst>
          </a:prstGeom>
          <a:solidFill>
            <a:srgbClr val="E8F4FD"/>
          </a:solidFill>
          <a:ln w="9525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887434" y="3246983"/>
            <a:ext cx="14122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기술지원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887434" y="3450134"/>
            <a:ext cx="14122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AS/유지보수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523804" y="3110508"/>
            <a:ext cx="1657648" cy="609302"/>
          </a:xfrm>
          <a:prstGeom prst="roundRect">
            <a:avLst>
              <a:gd name="adj" fmla="val 8337"/>
            </a:avLst>
          </a:prstGeom>
          <a:solidFill>
            <a:srgbClr val="E8F4FD"/>
          </a:solidFill>
          <a:ln w="9525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3646432" y="3246983"/>
            <a:ext cx="1412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전자결재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46432" y="3450134"/>
            <a:ext cx="141239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282952" y="3110508"/>
            <a:ext cx="1657499" cy="609302"/>
          </a:xfrm>
          <a:prstGeom prst="roundRect">
            <a:avLst>
              <a:gd name="adj" fmla="val 8337"/>
            </a:avLst>
          </a:prstGeom>
          <a:solidFill>
            <a:srgbClr val="E8F4FD"/>
          </a:solidFill>
          <a:ln w="9525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05582" y="3246983"/>
            <a:ext cx="14122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문서관리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05582" y="3450134"/>
            <a:ext cx="14122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도면/계약서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041952" y="3110508"/>
            <a:ext cx="1657648" cy="609302"/>
          </a:xfrm>
          <a:prstGeom prst="roundRect">
            <a:avLst>
              <a:gd name="adj" fmla="val 8337"/>
            </a:avLst>
          </a:prstGeom>
          <a:solidFill>
            <a:srgbClr val="E8F4FD"/>
          </a:solidFill>
          <a:ln w="9525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164580" y="3246983"/>
            <a:ext cx="1412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알림/공지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164580" y="3450134"/>
            <a:ext cx="141239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메일/SMS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44401" y="3846761"/>
            <a:ext cx="1218902" cy="609302"/>
          </a:xfrm>
          <a:prstGeom prst="roundRect">
            <a:avLst>
              <a:gd name="adj" fmla="val 8337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89248" y="4075212"/>
            <a:ext cx="3357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764804" y="3846761"/>
            <a:ext cx="1657499" cy="609302"/>
          </a:xfrm>
          <a:prstGeom prst="roundRect">
            <a:avLst>
              <a:gd name="adj" fmla="val 8337"/>
            </a:avLst>
          </a:prstGeom>
          <a:solidFill>
            <a:srgbClr val="1C2833"/>
          </a:solidFill>
          <a:ln w="9525">
            <a:solidFill>
              <a:srgbClr val="1C28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1887434" y="3983236"/>
            <a:ext cx="14122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Oracle Database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887434" y="4186386"/>
            <a:ext cx="14122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7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저장/관리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3523804" y="3846761"/>
            <a:ext cx="1657648" cy="609302"/>
          </a:xfrm>
          <a:prstGeom prst="roundRect">
            <a:avLst>
              <a:gd name="adj" fmla="val 8337"/>
            </a:avLst>
          </a:prstGeom>
          <a:solidFill>
            <a:srgbClr val="1C2833"/>
          </a:solidFill>
          <a:ln w="9525">
            <a:solidFill>
              <a:srgbClr val="1C28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646432" y="3983236"/>
            <a:ext cx="1412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 Server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646432" y="4186386"/>
            <a:ext cx="141239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7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애플리케이션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282952" y="3846761"/>
            <a:ext cx="1657499" cy="609302"/>
          </a:xfrm>
          <a:prstGeom prst="roundRect">
            <a:avLst>
              <a:gd name="adj" fmla="val 8337"/>
            </a:avLst>
          </a:prstGeom>
          <a:solidFill>
            <a:srgbClr val="1C2833"/>
          </a:solidFill>
          <a:ln w="9525">
            <a:solidFill>
              <a:srgbClr val="1C28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405582" y="3983236"/>
            <a:ext cx="14122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REST API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405582" y="4186386"/>
            <a:ext cx="14122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7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연동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041952" y="3846761"/>
            <a:ext cx="1657648" cy="609302"/>
          </a:xfrm>
          <a:prstGeom prst="roundRect">
            <a:avLst>
              <a:gd name="adj" fmla="val 8337"/>
            </a:avLst>
          </a:prstGeom>
          <a:solidFill>
            <a:srgbClr val="1C2833"/>
          </a:solidFill>
          <a:ln w="9525">
            <a:solidFill>
              <a:srgbClr val="1C28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64580" y="3983236"/>
            <a:ext cx="1412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클라우드/온프레미스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164580" y="4186386"/>
            <a:ext cx="141239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7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유연한 배포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42900"/>
            <a:ext cx="2032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34182" y="295275"/>
            <a:ext cx="18668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모듈 - 영업관리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44401" y="1047750"/>
            <a:ext cx="4000649" cy="425351"/>
          </a:xfrm>
          <a:prstGeom prst="roundRect">
            <a:avLst>
              <a:gd name="adj" fmla="val 11943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6801" y="1174700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영업관리 모듈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4401" y="1473101"/>
            <a:ext cx="4000649" cy="3397151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440287" y="1473101"/>
            <a:ext cx="0" cy="339715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4401" y="4865489"/>
            <a:ext cx="400064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9163" y="1473101"/>
            <a:ext cx="0" cy="339715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0876" y="1714351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2440" y="1600051"/>
            <a:ext cx="1666664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고객정보 통합 관리 (거래처, 담당자)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80876" y="216202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2440" y="2047726"/>
            <a:ext cx="1139750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견적서 작성 및 버전 관리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0876" y="2609701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2440" y="2495401"/>
            <a:ext cx="103879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수주 등록 및 계약 관리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0876" y="305737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2440" y="2943076"/>
            <a:ext cx="117496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영업기회 파이프라인 관리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0876" y="3505051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2440" y="3390751"/>
            <a:ext cx="134134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목표 대비 실적 모니터링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0876" y="395272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2440" y="3838426"/>
            <a:ext cx="130855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영업사원별 실적 분석 리포트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80876" y="4400401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2440" y="4286101"/>
            <a:ext cx="123052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알림 (납기, 계약만료)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98950" y="1047750"/>
            <a:ext cx="40806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프로세스 흐름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98950" y="143976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783931" y="1482626"/>
            <a:ext cx="59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051" y="1336625"/>
            <a:ext cx="3670548" cy="434876"/>
          </a:xfrm>
          <a:prstGeom prst="rect">
            <a:avLst/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038576" y="1336625"/>
            <a:ext cx="0" cy="434876"/>
          </a:xfrm>
          <a:prstGeom prst="line">
            <a:avLst/>
          </a:prstGeom>
          <a:noFill/>
          <a:ln w="19050">
            <a:solidFill>
              <a:srgbClr val="3498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75052" y="1412825"/>
            <a:ext cx="34655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영업기회 등록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175052" y="1581001"/>
            <a:ext cx="34655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잠재고객 발굴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658944" y="1847701"/>
            <a:ext cx="4080662" cy="152400"/>
          </a:xfrm>
          <a:prstGeom prst="rect">
            <a:avLst/>
          </a:prstGeom>
          <a:noFill/>
          <a:ln/>
        </p:spPr>
        <p:txBody>
          <a:bodyPr wrap="square" lIns="22860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98950" y="217943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776490" y="2222302"/>
            <a:ext cx="7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051" y="2076301"/>
            <a:ext cx="3670548" cy="434876"/>
          </a:xfrm>
          <a:prstGeom prst="rect">
            <a:avLst/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5038576" y="2076301"/>
            <a:ext cx="0" cy="434876"/>
          </a:xfrm>
          <a:prstGeom prst="line">
            <a:avLst/>
          </a:prstGeom>
          <a:noFill/>
          <a:ln w="19050">
            <a:solidFill>
              <a:srgbClr val="3498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75052" y="2152501"/>
            <a:ext cx="34655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 제출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175052" y="2320677"/>
            <a:ext cx="34655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견적서 작성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658944" y="2587377"/>
            <a:ext cx="4080662" cy="152400"/>
          </a:xfrm>
          <a:prstGeom prst="rect">
            <a:avLst/>
          </a:prstGeom>
          <a:noFill/>
          <a:ln/>
        </p:spPr>
        <p:txBody>
          <a:bodyPr wrap="square" lIns="22860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698950" y="291911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775002" y="2961977"/>
            <a:ext cx="780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029051" y="2815977"/>
            <a:ext cx="3670548" cy="434876"/>
          </a:xfrm>
          <a:prstGeom prst="rect">
            <a:avLst/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5038576" y="2815977"/>
            <a:ext cx="0" cy="434876"/>
          </a:xfrm>
          <a:prstGeom prst="line">
            <a:avLst/>
          </a:prstGeom>
          <a:noFill/>
          <a:ln w="19050">
            <a:solidFill>
              <a:srgbClr val="3498D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75052" y="2892177"/>
            <a:ext cx="34655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수주 확정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175052" y="3060353"/>
            <a:ext cx="34655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체결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658944" y="3327053"/>
            <a:ext cx="4080662" cy="152400"/>
          </a:xfrm>
          <a:prstGeom prst="rect">
            <a:avLst/>
          </a:prstGeom>
          <a:noFill/>
          <a:ln/>
        </p:spPr>
        <p:txBody>
          <a:bodyPr wrap="square" lIns="22860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698950" y="365879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773960" y="3701653"/>
            <a:ext cx="801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051" y="3555653"/>
            <a:ext cx="3670548" cy="434876"/>
          </a:xfrm>
          <a:prstGeom prst="rect">
            <a:avLst/>
          </a:prstGeom>
          <a:solidFill>
            <a:srgbClr val="E8F4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5038576" y="3555653"/>
            <a:ext cx="0" cy="434876"/>
          </a:xfrm>
          <a:prstGeom prst="line">
            <a:avLst/>
          </a:prstGeom>
          <a:noFill/>
          <a:ln w="19050">
            <a:solidFill>
              <a:srgbClr val="3498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175052" y="3631853"/>
            <a:ext cx="34655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연계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175052" y="3800029"/>
            <a:ext cx="34655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모듈 연동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42900"/>
            <a:ext cx="2032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34182" y="295275"/>
            <a:ext cx="22702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모듈 - 프로젝트관리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44401" y="1047750"/>
            <a:ext cx="3636913" cy="425351"/>
          </a:xfrm>
          <a:prstGeom prst="roundRect">
            <a:avLst>
              <a:gd name="adj" fmla="val 11943"/>
            </a:avLst>
          </a:prstGeom>
          <a:solidFill>
            <a:srgbClr val="27AE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6801" y="1174700"/>
            <a:ext cx="339875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프로젝트관리 모듈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4401" y="1473101"/>
            <a:ext cx="3636913" cy="3397151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076551" y="1473101"/>
            <a:ext cx="0" cy="339715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4401" y="4865489"/>
            <a:ext cx="3636913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9163" y="1473101"/>
            <a:ext cx="0" cy="339715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0876" y="1714351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7AE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2440" y="1600051"/>
            <a:ext cx="144229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생성 및 기본정보 관리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80876" y="216202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7AE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2440" y="2047726"/>
            <a:ext cx="156981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WBS 기반 작업 분해 및 일정 수립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0876" y="2609701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7AE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2440" y="2495401"/>
            <a:ext cx="103879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인력 배정 및 공수 관리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0876" y="305737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7AE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2440" y="2943076"/>
            <a:ext cx="134134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진척률 자동 산출 및 모니터링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0876" y="3505051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7AE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2440" y="3390751"/>
            <a:ext cx="114248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이슈/리스크 등록 및 추적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0876" y="395272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7AE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2440" y="3838426"/>
            <a:ext cx="1139750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 등록 및 버전 관리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80876" y="4400401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7AE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2440" y="4286101"/>
            <a:ext cx="130855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수익성 분석 리포트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335214" y="1047750"/>
            <a:ext cx="445167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간트 차트 기반 일정 관리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35214" y="1336625"/>
            <a:ext cx="4364385" cy="1752005"/>
          </a:xfrm>
          <a:prstGeom prst="roundRect">
            <a:avLst>
              <a:gd name="adj" fmla="val 29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487614" y="1520726"/>
            <a:ext cx="7772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요구분석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249614" y="1489025"/>
            <a:ext cx="3297585" cy="177701"/>
          </a:xfrm>
          <a:prstGeom prst="roundRect">
            <a:avLst>
              <a:gd name="adj" fmla="val 14294"/>
            </a:avLst>
          </a:prstGeom>
          <a:solidFill>
            <a:srgbClr val="E5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249614" y="1489025"/>
            <a:ext cx="659457" cy="177701"/>
          </a:xfrm>
          <a:prstGeom prst="roundRect">
            <a:avLst>
              <a:gd name="adj" fmla="val 14294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487614" y="1774627"/>
            <a:ext cx="7772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249614" y="1742926"/>
            <a:ext cx="3297585" cy="177701"/>
          </a:xfrm>
          <a:prstGeom prst="roundRect">
            <a:avLst>
              <a:gd name="adj" fmla="val 14294"/>
            </a:avLst>
          </a:prstGeom>
          <a:solidFill>
            <a:srgbClr val="E5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744170" y="1742926"/>
            <a:ext cx="824359" cy="177701"/>
          </a:xfrm>
          <a:prstGeom prst="roundRect">
            <a:avLst>
              <a:gd name="adj" fmla="val 14294"/>
            </a:avLst>
          </a:prstGeom>
          <a:solidFill>
            <a:srgbClr val="9B59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487614" y="2028527"/>
            <a:ext cx="7772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249614" y="1996827"/>
            <a:ext cx="3297585" cy="177701"/>
          </a:xfrm>
          <a:prstGeom prst="roundRect">
            <a:avLst>
              <a:gd name="adj" fmla="val 14294"/>
            </a:avLst>
          </a:prstGeom>
          <a:solidFill>
            <a:srgbClr val="E5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38875" y="1996827"/>
            <a:ext cx="1318915" cy="177701"/>
          </a:xfrm>
          <a:prstGeom prst="roundRect">
            <a:avLst>
              <a:gd name="adj" fmla="val 14294"/>
            </a:avLst>
          </a:prstGeom>
          <a:solidFill>
            <a:srgbClr val="27AE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487614" y="2282428"/>
            <a:ext cx="7772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49614" y="2250728"/>
            <a:ext cx="3297585" cy="177701"/>
          </a:xfrm>
          <a:prstGeom prst="roundRect">
            <a:avLst>
              <a:gd name="adj" fmla="val 14294"/>
            </a:avLst>
          </a:prstGeom>
          <a:solidFill>
            <a:srgbClr val="E5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228136" y="2250728"/>
            <a:ext cx="824359" cy="177701"/>
          </a:xfrm>
          <a:prstGeom prst="roundRect">
            <a:avLst>
              <a:gd name="adj" fmla="val 14294"/>
            </a:avLst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487614" y="2536329"/>
            <a:ext cx="7772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249614" y="2504629"/>
            <a:ext cx="3297585" cy="177701"/>
          </a:xfrm>
          <a:prstGeom prst="roundRect">
            <a:avLst>
              <a:gd name="adj" fmla="val 14294"/>
            </a:avLst>
          </a:prstGeom>
          <a:solidFill>
            <a:srgbClr val="E5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887593" y="2504629"/>
            <a:ext cx="659457" cy="177701"/>
          </a:xfrm>
          <a:prstGeom prst="roundRect">
            <a:avLst>
              <a:gd name="adj" fmla="val 14294"/>
            </a:avLst>
          </a:prstGeom>
          <a:solidFill>
            <a:srgbClr val="E74C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487614" y="2809280"/>
            <a:ext cx="126950" cy="126950"/>
          </a:xfrm>
          <a:prstGeom prst="roundRect">
            <a:avLst>
              <a:gd name="adj" fmla="val 20008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665315" y="2820293"/>
            <a:ext cx="156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4946154" y="2809280"/>
            <a:ext cx="126950" cy="126950"/>
          </a:xfrm>
          <a:prstGeom prst="roundRect">
            <a:avLst>
              <a:gd name="adj" fmla="val 20008"/>
            </a:avLst>
          </a:prstGeom>
          <a:solidFill>
            <a:srgbClr val="9B59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123855" y="2820293"/>
            <a:ext cx="156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404693" y="2809280"/>
            <a:ext cx="126950" cy="126950"/>
          </a:xfrm>
          <a:prstGeom prst="roundRect">
            <a:avLst>
              <a:gd name="adj" fmla="val 20008"/>
            </a:avLst>
          </a:prstGeom>
          <a:solidFill>
            <a:srgbClr val="27AE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582394" y="2820293"/>
            <a:ext cx="156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863233" y="2809280"/>
            <a:ext cx="126950" cy="126950"/>
          </a:xfrm>
          <a:prstGeom prst="roundRect">
            <a:avLst>
              <a:gd name="adj" fmla="val 20008"/>
            </a:avLst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040934" y="2820293"/>
            <a:ext cx="2352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398568" y="2809280"/>
            <a:ext cx="126950" cy="126950"/>
          </a:xfrm>
          <a:prstGeom prst="roundRect">
            <a:avLst>
              <a:gd name="adj" fmla="val 20008"/>
            </a:avLst>
          </a:prstGeom>
          <a:solidFill>
            <a:srgbClr val="E74C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576268" y="2820293"/>
            <a:ext cx="156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42900"/>
            <a:ext cx="2019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32842" y="295275"/>
            <a:ext cx="242143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모듈 - 재고/구매 관리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44401" y="1057275"/>
            <a:ext cx="2794099" cy="425351"/>
          </a:xfrm>
          <a:prstGeom prst="roundRect">
            <a:avLst>
              <a:gd name="adj" fmla="val 11943"/>
            </a:avLst>
          </a:prstGeom>
          <a:solidFill>
            <a:srgbClr val="E67E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6801" y="1184225"/>
            <a:ext cx="25390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재고관리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44401" y="1482626"/>
            <a:ext cx="2794099" cy="287268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233737" y="1482626"/>
            <a:ext cx="0" cy="287268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4401" y="4350544"/>
            <a:ext cx="279409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9163" y="1482626"/>
            <a:ext cx="0" cy="287268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0876" y="172387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E67E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2440" y="1609576"/>
            <a:ext cx="999178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품목 마스터 및 분류 체계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80876" y="2158752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E67E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2440" y="2044452"/>
            <a:ext cx="973068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입출고 이력 실시간 추적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80876" y="2593628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E67E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2440" y="2479328"/>
            <a:ext cx="909614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 실사 및 조정 기능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80876" y="3028504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E67E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2440" y="2914204"/>
            <a:ext cx="768132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안전재고 알림 설정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80876" y="3463379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E67E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2440" y="3349079"/>
            <a:ext cx="892156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창고/위치별 재고 현황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80876" y="3898255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E67E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2440" y="3783955"/>
            <a:ext cx="901113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시리얼/LOT 번호 관리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057275"/>
            <a:ext cx="2794099" cy="425351"/>
          </a:xfrm>
          <a:prstGeom prst="roundRect">
            <a:avLst>
              <a:gd name="adj" fmla="val 11943"/>
            </a:avLst>
          </a:prstGeom>
          <a:solidFill>
            <a:srgbClr val="8E44A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581400" y="1184225"/>
            <a:ext cx="25390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구매관리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29000" y="1482626"/>
            <a:ext cx="2794099" cy="287268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218337" y="1482626"/>
            <a:ext cx="0" cy="287268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29000" y="4350544"/>
            <a:ext cx="279409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33763" y="1482626"/>
            <a:ext cx="0" cy="287268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65475" y="172387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8E44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97039" y="1609576"/>
            <a:ext cx="1152198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구매요청 및 승인 워크플로우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565475" y="2158752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8E44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97039" y="2044452"/>
            <a:ext cx="794090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발주서 생성 및 전송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565475" y="2593628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8E44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97039" y="2479328"/>
            <a:ext cx="768132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협력업체 정보 관리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565475" y="3028504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8E44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97039" y="2914204"/>
            <a:ext cx="909614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입고 검수 및 품질 관리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565475" y="3463379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8E44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697039" y="3349079"/>
            <a:ext cx="768132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단가 히스토리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565475" y="3898255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8E44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697039" y="3783955"/>
            <a:ext cx="794090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구매 실적 분석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390739" y="1057275"/>
            <a:ext cx="23317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재고/구매 프로세스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02573" y="1336625"/>
            <a:ext cx="2508052" cy="475952"/>
          </a:xfrm>
          <a:prstGeom prst="roundRect">
            <a:avLst>
              <a:gd name="adj" fmla="val 10673"/>
            </a:avLst>
          </a:prstGeom>
          <a:solidFill>
            <a:srgbClr val="F5EEF8"/>
          </a:solidFill>
          <a:ln w="9525">
            <a:solidFill>
              <a:srgbClr val="8E44A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390739" y="1447651"/>
            <a:ext cx="23317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구매요청/발주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390739" y="1596777"/>
            <a:ext cx="23317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워크플로우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495133" y="1875979"/>
            <a:ext cx="1252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5A5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302573" y="2091779"/>
            <a:ext cx="2508052" cy="475952"/>
          </a:xfrm>
          <a:prstGeom prst="roundRect">
            <a:avLst>
              <a:gd name="adj" fmla="val 10673"/>
            </a:avLst>
          </a:prstGeom>
          <a:solidFill>
            <a:srgbClr val="FEF5E7"/>
          </a:solidFill>
          <a:ln w="9525">
            <a:solidFill>
              <a:srgbClr val="E67E2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0739" y="2202805"/>
            <a:ext cx="23317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입고/검수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390739" y="2351931"/>
            <a:ext cx="23317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 확인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495133" y="2631132"/>
            <a:ext cx="1252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5A5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302573" y="2846933"/>
            <a:ext cx="2508052" cy="475952"/>
          </a:xfrm>
          <a:prstGeom prst="roundRect">
            <a:avLst>
              <a:gd name="adj" fmla="val 10673"/>
            </a:avLst>
          </a:prstGeom>
          <a:solidFill>
            <a:srgbClr val="E8F8F5"/>
          </a:solidFill>
          <a:ln w="9525">
            <a:solidFill>
              <a:srgbClr val="1ABC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390739" y="2957959"/>
            <a:ext cx="23317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 등록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390739" y="3107085"/>
            <a:ext cx="23317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 배정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495133" y="3386286"/>
            <a:ext cx="1252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5A5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302573" y="3602087"/>
            <a:ext cx="2508052" cy="475952"/>
          </a:xfrm>
          <a:prstGeom prst="roundRect">
            <a:avLst>
              <a:gd name="adj" fmla="val 10673"/>
            </a:avLst>
          </a:prstGeom>
          <a:solidFill>
            <a:srgbClr val="EBF5FB"/>
          </a:solidFill>
          <a:ln w="9525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390739" y="3713113"/>
            <a:ext cx="23317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출고/사용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390739" y="3862239"/>
            <a:ext cx="23317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연계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42900"/>
            <a:ext cx="2032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34182" y="295275"/>
            <a:ext cx="19394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모듈 - 회계/재무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44401" y="1047750"/>
            <a:ext cx="4000649" cy="425351"/>
          </a:xfrm>
          <a:prstGeom prst="roundRect">
            <a:avLst>
              <a:gd name="adj" fmla="val 11943"/>
            </a:avLst>
          </a:prstGeom>
          <a:solidFill>
            <a:srgbClr val="2980B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6801" y="1174700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회계/재무 모듈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4401" y="1473101"/>
            <a:ext cx="4000649" cy="3397151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440287" y="1473101"/>
            <a:ext cx="0" cy="339715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4401" y="4865489"/>
            <a:ext cx="400064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9163" y="1473101"/>
            <a:ext cx="0" cy="339715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0876" y="1714351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980B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2440" y="1600051"/>
            <a:ext cx="103879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전표 입력 및 자동 분개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80876" y="216202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980B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2440" y="2047726"/>
            <a:ext cx="1210491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매출/매입 세금계산서 관리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0876" y="2609701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980B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2440" y="2495401"/>
            <a:ext cx="1276070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채권/채무 관리 및 잔액 조회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0876" y="305737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980B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2440" y="2943076"/>
            <a:ext cx="127333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계획 및 현금 흐름 관리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0876" y="3505051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980B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2440" y="3390751"/>
            <a:ext cx="973220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프로젝트별 원가 집계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0876" y="395272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980B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2440" y="3838426"/>
            <a:ext cx="124054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결산 마감 및 재무제표 생성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80876" y="4400401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2980B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2440" y="4286101"/>
            <a:ext cx="110969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부가세/원천세 신고 지원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98950" y="1047750"/>
            <a:ext cx="40806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경영 분석 리포트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98950" y="1336625"/>
            <a:ext cx="4000649" cy="558701"/>
          </a:xfrm>
          <a:prstGeom prst="roundRect">
            <a:avLst>
              <a:gd name="adj" fmla="val 9093"/>
            </a:avLst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788433" y="1463576"/>
            <a:ext cx="3821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손익계산서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88433" y="1654076"/>
            <a:ext cx="3821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월별/분기별 손익 분석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698950" y="1996827"/>
            <a:ext cx="4000649" cy="558701"/>
          </a:xfrm>
          <a:prstGeom prst="roundRect">
            <a:avLst>
              <a:gd name="adj" fmla="val 9093"/>
            </a:avLst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788433" y="2123777"/>
            <a:ext cx="3821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재무상태표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88433" y="2314277"/>
            <a:ext cx="3821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자산/부채 현황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698950" y="2657029"/>
            <a:ext cx="4000649" cy="558701"/>
          </a:xfrm>
          <a:prstGeom prst="roundRect">
            <a:avLst>
              <a:gd name="adj" fmla="val 9093"/>
            </a:avLst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788433" y="2783979"/>
            <a:ext cx="3821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현금흐름표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88433" y="2974479"/>
            <a:ext cx="3821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운용 현황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98950" y="3317230"/>
            <a:ext cx="4000649" cy="558701"/>
          </a:xfrm>
          <a:prstGeom prst="roundRect">
            <a:avLst>
              <a:gd name="adj" fmla="val 9093"/>
            </a:avLst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788433" y="3444180"/>
            <a:ext cx="3821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원가분석표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8433" y="3634680"/>
            <a:ext cx="3821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수익성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698950" y="4028331"/>
            <a:ext cx="4000649" cy="487561"/>
          </a:xfrm>
          <a:prstGeom prst="rect">
            <a:avLst/>
          </a:prstGeom>
          <a:solidFill>
            <a:srgbClr val="FCF3C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718000" y="4028331"/>
            <a:ext cx="0" cy="487561"/>
          </a:xfrm>
          <a:prstGeom prst="line">
            <a:avLst/>
          </a:prstGeom>
          <a:noFill/>
          <a:ln w="38100">
            <a:solidFill>
              <a:srgbClr val="F1C40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38551" y="4129832"/>
            <a:ext cx="3834738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연동 포인트: 영업 수주, 구매 발주, 프로젝트 비용이 자동으로 회계 전표에 반영되어 이중 입력 없이 실시간 재무 현황 파악 가능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42900"/>
            <a:ext cx="2019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32842" y="295275"/>
            <a:ext cx="196465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모듈 - 인사/급여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44401" y="1057275"/>
            <a:ext cx="2984599" cy="425351"/>
          </a:xfrm>
          <a:prstGeom prst="roundRect">
            <a:avLst>
              <a:gd name="adj" fmla="val 11943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6801" y="1184225"/>
            <a:ext cx="27333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인사관리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44401" y="1482626"/>
            <a:ext cx="2984599" cy="287268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424238" y="1482626"/>
            <a:ext cx="0" cy="287268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4401" y="4350544"/>
            <a:ext cx="298459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9163" y="1482626"/>
            <a:ext cx="0" cy="287268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0876" y="172387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2440" y="1609576"/>
            <a:ext cx="1114702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사원 정보 및 인사 카드 관리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80876" y="2158752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2440" y="2044452"/>
            <a:ext cx="794090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조직도 및 부서 관리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80876" y="2593628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2440" y="2479328"/>
            <a:ext cx="1176486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근태 관리 (출퇴근/휴가/연차)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80876" y="3028504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2440" y="2914204"/>
            <a:ext cx="909614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경력 및 자격 이력 관리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80876" y="3463379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2440" y="3349079"/>
            <a:ext cx="909614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 평가 및 목표 관리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80876" y="3898255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2440" y="3783955"/>
            <a:ext cx="794090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훈련 이력 관리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600450" y="1824038"/>
            <a:ext cx="19431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라이프사이클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19500" y="2103388"/>
            <a:ext cx="1905000" cy="2082701"/>
          </a:xfrm>
          <a:prstGeom prst="roundRect">
            <a:avLst>
              <a:gd name="adj" fmla="val 266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746450" y="2230338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836938" y="2282726"/>
            <a:ext cx="485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076551" y="2277963"/>
            <a:ext cx="2015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746450" y="2535138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829645" y="2587526"/>
            <a:ext cx="633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076551" y="2582763"/>
            <a:ext cx="2015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배치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46450" y="2839938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828306" y="2892326"/>
            <a:ext cx="661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076551" y="2887563"/>
            <a:ext cx="2015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746450" y="3144738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827264" y="3197126"/>
            <a:ext cx="681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076551" y="3192363"/>
            <a:ext cx="2015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보상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746450" y="3449538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28901" y="3501926"/>
            <a:ext cx="649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076551" y="3497163"/>
            <a:ext cx="2015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육성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746450" y="3754338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828008" y="3806726"/>
            <a:ext cx="666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076551" y="3801963"/>
            <a:ext cx="2015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715000" y="1057275"/>
            <a:ext cx="2984599" cy="425351"/>
          </a:xfrm>
          <a:prstGeom prst="roundRect">
            <a:avLst>
              <a:gd name="adj" fmla="val 11943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867400" y="1184225"/>
            <a:ext cx="27333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급여관리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715000" y="1482626"/>
            <a:ext cx="2984599" cy="287268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8694837" y="1482626"/>
            <a:ext cx="0" cy="287268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15000" y="4350544"/>
            <a:ext cx="298459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719763" y="1482626"/>
            <a:ext cx="0" cy="287268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51475" y="1723876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C039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983039" y="1609576"/>
            <a:ext cx="999178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급여 항목 및 계산식 설정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851475" y="2158752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C039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983039" y="2044452"/>
            <a:ext cx="678567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월급여 자동 계산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851475" y="2593628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C039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983039" y="2479328"/>
            <a:ext cx="743236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4대보험 자동 산출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851475" y="3028504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C039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983039" y="2914204"/>
            <a:ext cx="776785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소득세/지방세 계산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851475" y="3463379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C039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983039" y="3349079"/>
            <a:ext cx="652608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급여명세서 발급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851475" y="3898255"/>
            <a:ext cx="56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C039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983039" y="3783955"/>
            <a:ext cx="563195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연말정산 지원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42900"/>
            <a:ext cx="2047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35670" y="295275"/>
            <a:ext cx="106141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구축 방법론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1849" y="1057275"/>
            <a:ext cx="8420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Agile 기반 단계적 구축 방법론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44401" y="1381125"/>
            <a:ext cx="1569839" cy="479227"/>
          </a:xfrm>
          <a:prstGeom prst="roundRect">
            <a:avLst>
              <a:gd name="adj" fmla="val 10600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2233" y="1482626"/>
            <a:ext cx="13941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2233" y="1606451"/>
            <a:ext cx="13941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44401" y="1860352"/>
            <a:ext cx="1569839" cy="1101477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009477" y="1860352"/>
            <a:ext cx="0" cy="1101477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4401" y="2957066"/>
            <a:ext cx="156983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9163" y="1860352"/>
            <a:ext cx="0" cy="1101477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5427" y="1961852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업무 분석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55427" y="2117378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요구사항 정의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55427" y="2272903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To-Be 프로세스 설계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55427" y="2428429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표준화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115741" y="1381125"/>
            <a:ext cx="1569839" cy="479227"/>
          </a:xfrm>
          <a:prstGeom prst="roundRect">
            <a:avLst>
              <a:gd name="adj" fmla="val 10600"/>
            </a:avLst>
          </a:prstGeom>
          <a:solidFill>
            <a:srgbClr val="9B59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203573" y="1482626"/>
            <a:ext cx="13941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203573" y="1606451"/>
            <a:ext cx="13941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15741" y="1860352"/>
            <a:ext cx="1569839" cy="1101477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680817" y="1860352"/>
            <a:ext cx="0" cy="1101477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15741" y="2957066"/>
            <a:ext cx="156983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20503" y="1860352"/>
            <a:ext cx="0" cy="1101477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26766" y="1961852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아키텍처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226766" y="2117378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화면/리포트 설계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2226766" y="2272903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인터페이스 정의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226766" y="2428429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체계 수립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787080" y="1381125"/>
            <a:ext cx="1569839" cy="479227"/>
          </a:xfrm>
          <a:prstGeom prst="roundRect">
            <a:avLst>
              <a:gd name="adj" fmla="val 10600"/>
            </a:avLst>
          </a:prstGeom>
          <a:solidFill>
            <a:srgbClr val="27AE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874913" y="1482626"/>
            <a:ext cx="13941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874913" y="1606451"/>
            <a:ext cx="13941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787080" y="1860352"/>
            <a:ext cx="1569839" cy="1101477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5352157" y="1860352"/>
            <a:ext cx="0" cy="1101477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87080" y="2957066"/>
            <a:ext cx="156983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91843" y="1860352"/>
            <a:ext cx="0" cy="1101477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98106" y="1961852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모듈별 개발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898106" y="2117378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 테스트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898106" y="2272903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마이그레이션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898106" y="2428429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테스트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458420" y="1381125"/>
            <a:ext cx="1569839" cy="479227"/>
          </a:xfrm>
          <a:prstGeom prst="roundRect">
            <a:avLst>
              <a:gd name="adj" fmla="val 10600"/>
            </a:avLst>
          </a:prstGeom>
          <a:solidFill>
            <a:srgbClr val="E67E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546253" y="1482626"/>
            <a:ext cx="13941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546253" y="1606451"/>
            <a:ext cx="13941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58420" y="1860352"/>
            <a:ext cx="1569839" cy="1101477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7023497" y="1860352"/>
            <a:ext cx="0" cy="1101477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58420" y="2957066"/>
            <a:ext cx="156983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63183" y="1860352"/>
            <a:ext cx="0" cy="1101477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69446" y="1961852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테스트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569446" y="2117378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성능 최적화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569446" y="2272903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점검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569446" y="2428429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교육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129760" y="1381125"/>
            <a:ext cx="1569839" cy="479227"/>
          </a:xfrm>
          <a:prstGeom prst="roundRect">
            <a:avLst>
              <a:gd name="adj" fmla="val 10600"/>
            </a:avLst>
          </a:prstGeom>
          <a:solidFill>
            <a:srgbClr val="E74C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7217593" y="1482626"/>
            <a:ext cx="13941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5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217593" y="1606451"/>
            <a:ext cx="13941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안정화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7129760" y="1860352"/>
            <a:ext cx="1569839" cy="1101477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8694837" y="1860352"/>
            <a:ext cx="0" cy="1101477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29760" y="2957066"/>
            <a:ext cx="156983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134523" y="1860352"/>
            <a:ext cx="0" cy="1101477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40786" y="1961852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오픈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7240786" y="2117378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병행 운영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7240786" y="2272903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이슈 대응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7240786" y="2428429"/>
            <a:ext cx="1374743" cy="1047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이관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444401" y="3114229"/>
            <a:ext cx="8255198" cy="517327"/>
          </a:xfrm>
          <a:prstGeom prst="roundRect">
            <a:avLst>
              <a:gd name="adj" fmla="val 9820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284753" y="3241179"/>
            <a:ext cx="752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경영진 지원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284753" y="3399830"/>
            <a:ext cx="7520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Top-down 의사결정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3336660" y="3241179"/>
            <a:ext cx="7506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현업 참여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336660" y="3399830"/>
            <a:ext cx="7506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실사용자 피드백 반영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387362" y="3241179"/>
            <a:ext cx="7506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변화관리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387362" y="3399830"/>
            <a:ext cx="7506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및 커뮤니케이션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7441211" y="3241179"/>
            <a:ext cx="4145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품질관리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7441211" y="3399830"/>
            <a:ext cx="4145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단계별 검증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42900"/>
            <a:ext cx="2047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35670" y="295275"/>
            <a:ext cx="1262863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일정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1849" y="1057275"/>
            <a:ext cx="8420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6개월 구축 일정 (예시)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44401" y="1600200"/>
            <a:ext cx="8255198" cy="0"/>
          </a:xfrm>
          <a:prstGeom prst="line">
            <a:avLst/>
          </a:prstGeom>
          <a:noFill/>
          <a:ln w="19050">
            <a:solidFill>
              <a:srgbClr val="1C28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643" y="1381125"/>
            <a:ext cx="14032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1개월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06409" y="1381125"/>
            <a:ext cx="14034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182326" y="1381125"/>
            <a:ext cx="14032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3개월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58092" y="1381125"/>
            <a:ext cx="14034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4개월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34008" y="1381125"/>
            <a:ext cx="14034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5개월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09924" y="1381125"/>
            <a:ext cx="14034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6개월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44401" y="1796951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1163" y="1736675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59980" y="1736675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08946" y="1736675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57763" y="1736675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6728" y="1736675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55545" y="1736675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06401" y="1761976"/>
            <a:ext cx="1248221" cy="203150"/>
          </a:xfrm>
          <a:prstGeom prst="roundRect">
            <a:avLst>
              <a:gd name="adj" fmla="val 18755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676846" y="1811089"/>
            <a:ext cx="31347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요구분석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44401" y="2152352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211163" y="2092077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59980" y="2092077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08946" y="2092077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57763" y="2092077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06728" y="2092077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55545" y="2092077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42976" y="2117378"/>
            <a:ext cx="1560761" cy="203150"/>
          </a:xfrm>
          <a:prstGeom prst="roundRect">
            <a:avLst>
              <a:gd name="adj" fmla="val 18755"/>
            </a:avLst>
          </a:prstGeom>
          <a:solidFill>
            <a:srgbClr val="9B59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721025" y="2166491"/>
            <a:ext cx="41260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설계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44401" y="2507754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211163" y="2447479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59980" y="2447479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08946" y="2447479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57763" y="2447479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6728" y="2447479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55545" y="2447479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79700" y="2472779"/>
            <a:ext cx="2809875" cy="203150"/>
          </a:xfrm>
          <a:prstGeom prst="roundRect">
            <a:avLst>
              <a:gd name="adj" fmla="val 18755"/>
            </a:avLst>
          </a:prstGeom>
          <a:solidFill>
            <a:srgbClr val="27AE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20778" y="2521893"/>
            <a:ext cx="3342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모듈 개발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44401" y="2863155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211163" y="2802880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459980" y="2802880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08946" y="2802880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57763" y="2802880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06728" y="2802880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455545" y="2802880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64646" y="2828181"/>
            <a:ext cx="1560761" cy="203150"/>
          </a:xfrm>
          <a:prstGeom prst="roundRect">
            <a:avLst>
              <a:gd name="adj" fmla="val 18755"/>
            </a:avLst>
          </a:prstGeom>
          <a:solidFill>
            <a:srgbClr val="E67E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929759" y="2877294"/>
            <a:ext cx="23514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44401" y="3218557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안정화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211163" y="3158282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59980" y="3158282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08946" y="3158282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57763" y="3158282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06728" y="3158282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455545" y="3158282"/>
            <a:ext cx="0" cy="253901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13761" y="3183582"/>
            <a:ext cx="2185690" cy="203150"/>
          </a:xfrm>
          <a:prstGeom prst="roundRect">
            <a:avLst>
              <a:gd name="adj" fmla="val 18755"/>
            </a:avLst>
          </a:prstGeom>
          <a:solidFill>
            <a:srgbClr val="E74C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529661" y="3232696"/>
            <a:ext cx="15681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444401" y="3564582"/>
            <a:ext cx="1549450" cy="647402"/>
          </a:xfrm>
          <a:prstGeom prst="roundRect">
            <a:avLst>
              <a:gd name="adj" fmla="val 784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444401" y="3574107"/>
            <a:ext cx="1549450" cy="0"/>
          </a:xfrm>
          <a:prstGeom prst="line">
            <a:avLst/>
          </a:prstGeom>
          <a:noFill/>
          <a:ln w="19050">
            <a:solidFill>
              <a:srgbClr val="1C28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32437" y="3685133"/>
            <a:ext cx="13733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M+1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532437" y="3847058"/>
            <a:ext cx="13733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착수 보고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32437" y="4005709"/>
            <a:ext cx="137337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킥오프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120801" y="3564582"/>
            <a:ext cx="1549598" cy="647402"/>
          </a:xfrm>
          <a:prstGeom prst="roundRect">
            <a:avLst>
              <a:gd name="adj" fmla="val 784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2120801" y="3574107"/>
            <a:ext cx="1549598" cy="0"/>
          </a:xfrm>
          <a:prstGeom prst="line">
            <a:avLst/>
          </a:prstGeom>
          <a:noFill/>
          <a:ln w="19050">
            <a:solidFill>
              <a:srgbClr val="1C28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208836" y="3685133"/>
            <a:ext cx="13735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M+2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2208836" y="3847058"/>
            <a:ext cx="13735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완료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2208836" y="4005709"/>
            <a:ext cx="137352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요구사항 확정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3797350" y="3564582"/>
            <a:ext cx="1549450" cy="647402"/>
          </a:xfrm>
          <a:prstGeom prst="roundRect">
            <a:avLst>
              <a:gd name="adj" fmla="val 784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3797350" y="3574107"/>
            <a:ext cx="1549450" cy="0"/>
          </a:xfrm>
          <a:prstGeom prst="line">
            <a:avLst/>
          </a:prstGeom>
          <a:noFill/>
          <a:ln w="19050">
            <a:solidFill>
              <a:srgbClr val="1C28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885386" y="3685133"/>
            <a:ext cx="13733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M+4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3885386" y="3847058"/>
            <a:ext cx="13733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완료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3885386" y="4005709"/>
            <a:ext cx="137337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테스트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473750" y="3564582"/>
            <a:ext cx="1549450" cy="647402"/>
          </a:xfrm>
          <a:prstGeom prst="roundRect">
            <a:avLst>
              <a:gd name="adj" fmla="val 784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Shape 72"/>
          <p:cNvSpPr/>
          <p:nvPr/>
        </p:nvSpPr>
        <p:spPr>
          <a:xfrm>
            <a:off x="5473750" y="3574107"/>
            <a:ext cx="1549450" cy="0"/>
          </a:xfrm>
          <a:prstGeom prst="line">
            <a:avLst/>
          </a:prstGeom>
          <a:noFill/>
          <a:ln w="19050">
            <a:solidFill>
              <a:srgbClr val="1C28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561786" y="3685133"/>
            <a:ext cx="13733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M+5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561786" y="3847058"/>
            <a:ext cx="13733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UAT 완료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561786" y="4005709"/>
            <a:ext cx="137337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승인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7150150" y="3564582"/>
            <a:ext cx="1549450" cy="647402"/>
          </a:xfrm>
          <a:prstGeom prst="roundRect">
            <a:avLst>
              <a:gd name="adj" fmla="val 784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Shape 77"/>
          <p:cNvSpPr/>
          <p:nvPr/>
        </p:nvSpPr>
        <p:spPr>
          <a:xfrm>
            <a:off x="7150150" y="3574107"/>
            <a:ext cx="1549450" cy="0"/>
          </a:xfrm>
          <a:prstGeom prst="line">
            <a:avLst/>
          </a:prstGeom>
          <a:noFill/>
          <a:ln w="19050">
            <a:solidFill>
              <a:srgbClr val="1C283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238186" y="3685133"/>
            <a:ext cx="13733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M+6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7238186" y="3847058"/>
            <a:ext cx="13733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Grand Open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7238186" y="4005709"/>
            <a:ext cx="137337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본격 운영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42900"/>
            <a:ext cx="2000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31056" y="295275"/>
            <a:ext cx="129686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비용 (안)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44401" y="1057275"/>
            <a:ext cx="4800749" cy="2402086"/>
          </a:xfrm>
          <a:prstGeom prst="roundRect">
            <a:avLst>
              <a:gd name="adj" fmla="val 2115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44401" y="1057275"/>
            <a:ext cx="4800749" cy="336352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158776"/>
            <a:ext cx="20381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574986" y="1158776"/>
            <a:ext cx="10190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564076" y="1158776"/>
            <a:ext cx="15286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(백만원)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4401" y="1734741"/>
            <a:ext cx="480074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6801" y="1495127"/>
            <a:ext cx="20381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소프트웨어 개발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74986" y="1495127"/>
            <a:ext cx="10190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40%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564076" y="1495127"/>
            <a:ext cx="15286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44401" y="2080617"/>
            <a:ext cx="480074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6801" y="1841004"/>
            <a:ext cx="20381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하드웨어/인프라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74986" y="1841004"/>
            <a:ext cx="10190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564076" y="1841004"/>
            <a:ext cx="15286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4401" y="2426494"/>
            <a:ext cx="480074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6801" y="2186880"/>
            <a:ext cx="20381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구축 컨설팅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74986" y="2186880"/>
            <a:ext cx="10190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15%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64076" y="2186880"/>
            <a:ext cx="15286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4401" y="2772370"/>
            <a:ext cx="480074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801" y="2532757"/>
            <a:ext cx="20381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교육/변화관리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74986" y="2532757"/>
            <a:ext cx="10190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15%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4076" y="2532757"/>
            <a:ext cx="15286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4401" y="3118247"/>
            <a:ext cx="4800749" cy="0"/>
          </a:xfrm>
          <a:prstGeom prst="line">
            <a:avLst/>
          </a:prstGeom>
          <a:noFill/>
          <a:ln w="9525">
            <a:solidFill>
              <a:srgbClr val="E5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6801" y="2878634"/>
            <a:ext cx="20381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유지보수 (연간)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74986" y="2878634"/>
            <a:ext cx="10190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564076" y="2878634"/>
            <a:ext cx="15286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44401" y="3123009"/>
            <a:ext cx="4800749" cy="336352"/>
          </a:xfrm>
          <a:prstGeom prst="rect">
            <a:avLst/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6801" y="3224510"/>
            <a:ext cx="20381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980B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투자 비용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74986" y="3224510"/>
            <a:ext cx="10190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980B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564076" y="3224510"/>
            <a:ext cx="15286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980B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44401" y="3560862"/>
            <a:ext cx="489676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700" i="1" dirty="0">
                <a:solidFill>
                  <a:srgbClr val="7F8C8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상기 금액은 예시이며, 상세 견적은 요구사항 분석 후 확정됩니다.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467045" y="1057275"/>
            <a:ext cx="32645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비용 구성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99050" y="1336625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752951" y="1346150"/>
            <a:ext cx="26593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 개발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61623" y="1346150"/>
            <a:ext cx="2427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40%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499050" y="1565225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27AE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752951" y="1574750"/>
            <a:ext cx="26635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HW/인프라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465790" y="1574750"/>
            <a:ext cx="2384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99050" y="1793825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752951" y="1803350"/>
            <a:ext cx="26807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컨설팅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482608" y="1803350"/>
            <a:ext cx="2213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15%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499050" y="2022425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9B59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752951" y="2031950"/>
            <a:ext cx="26807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482608" y="2031950"/>
            <a:ext cx="2213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15%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499050" y="2251025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E74C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752951" y="2260550"/>
            <a:ext cx="26808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유지보수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482757" y="2260550"/>
            <a:ext cx="221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99050" y="2593925"/>
            <a:ext cx="3200549" cy="768251"/>
          </a:xfrm>
          <a:prstGeom prst="roundRect">
            <a:avLst>
              <a:gd name="adj" fmla="val 6612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622493" y="2746325"/>
            <a:ext cx="29536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7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Investment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622493" y="2933551"/>
            <a:ext cx="295366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300M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42900"/>
            <a:ext cx="2035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34479" y="295275"/>
            <a:ext cx="85617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효과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44401" y="1047750"/>
            <a:ext cx="1968550" cy="958751"/>
          </a:xfrm>
          <a:prstGeom prst="roundRect">
            <a:avLst>
              <a:gd name="adj" fmla="val 7948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0163" y="1200150"/>
            <a:ext cx="16970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0163" y="1543050"/>
            <a:ext cx="1697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효율 향상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0163" y="1749326"/>
            <a:ext cx="16970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업무 자동화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2539901" y="1047750"/>
            <a:ext cx="1968698" cy="958751"/>
          </a:xfrm>
          <a:prstGeom prst="roundRect">
            <a:avLst>
              <a:gd name="adj" fmla="val 7948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675662" y="1200150"/>
            <a:ext cx="1697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50%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675662" y="1543050"/>
            <a:ext cx="16971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보고서 작성 단축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75662" y="1749326"/>
            <a:ext cx="169717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리포트 생성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635550" y="1047750"/>
            <a:ext cx="1968550" cy="958751"/>
          </a:xfrm>
          <a:prstGeom prst="roundRect">
            <a:avLst>
              <a:gd name="adj" fmla="val 7948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71312" y="1200150"/>
            <a:ext cx="16970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71312" y="1543050"/>
            <a:ext cx="1697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 비용 절감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71312" y="1749326"/>
            <a:ext cx="16970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재고 유지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731050" y="1047750"/>
            <a:ext cx="1968550" cy="958751"/>
          </a:xfrm>
          <a:prstGeom prst="roundRect">
            <a:avLst>
              <a:gd name="adj" fmla="val 7948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66812" y="1200150"/>
            <a:ext cx="16970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866812" y="1543050"/>
            <a:ext cx="1697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의사결정 속도 향상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866812" y="1749326"/>
            <a:ext cx="16970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대시보드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44401" y="2158901"/>
            <a:ext cx="4112996" cy="234851"/>
          </a:xfrm>
          <a:prstGeom prst="rect">
            <a:avLst/>
          </a:prstGeom>
          <a:noFill/>
          <a:ln/>
        </p:spPr>
        <p:txBody>
          <a:bodyPr wrap="square" lIns="0" tIns="0" rIns="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정량적 효과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4401" y="2495252"/>
            <a:ext cx="203150" cy="203150"/>
          </a:xfrm>
          <a:prstGeom prst="roundRect">
            <a:avLst>
              <a:gd name="adj" fmla="val 50012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13457" y="2539603"/>
            <a:ext cx="6618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BC9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49052" y="2495252"/>
            <a:ext cx="38022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인건비 절감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49052" y="2663428"/>
            <a:ext cx="3802252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중복 업무 제거로 연간 인건비 15% 절감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44401" y="2871639"/>
            <a:ext cx="203150" cy="203150"/>
          </a:xfrm>
          <a:prstGeom prst="roundRect">
            <a:avLst>
              <a:gd name="adj" fmla="val 50012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13457" y="2915989"/>
            <a:ext cx="6618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BC9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49052" y="2871639"/>
            <a:ext cx="38022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증가 기여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49052" y="3039814"/>
            <a:ext cx="3802252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기회 관리 강화로 수주율 10% 향상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4401" y="3248025"/>
            <a:ext cx="203150" cy="203150"/>
          </a:xfrm>
          <a:prstGeom prst="roundRect">
            <a:avLst>
              <a:gd name="adj" fmla="val 50012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13457" y="3292376"/>
            <a:ext cx="6618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BC9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49052" y="3248025"/>
            <a:ext cx="38022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비용 최적화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9052" y="3416201"/>
            <a:ext cx="3802252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효율화로 운영비 12% 절감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667250" y="2158901"/>
            <a:ext cx="4112996" cy="234851"/>
          </a:xfrm>
          <a:prstGeom prst="rect">
            <a:avLst/>
          </a:prstGeom>
          <a:noFill/>
          <a:ln/>
        </p:spPr>
        <p:txBody>
          <a:bodyPr wrap="square" lIns="0" tIns="0" rIns="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정성적 효과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67250" y="2495252"/>
            <a:ext cx="203150" cy="203150"/>
          </a:xfrm>
          <a:prstGeom prst="roundRect">
            <a:avLst>
              <a:gd name="adj" fmla="val 50012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736306" y="2539603"/>
            <a:ext cx="6618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BC9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971901" y="2495252"/>
            <a:ext cx="38022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기반 경영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971901" y="2663428"/>
            <a:ext cx="3802252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과학적 의사결정 체계 구축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667250" y="2871639"/>
            <a:ext cx="203150" cy="203150"/>
          </a:xfrm>
          <a:prstGeom prst="roundRect">
            <a:avLst>
              <a:gd name="adj" fmla="val 50012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736306" y="2915989"/>
            <a:ext cx="6618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BC9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971901" y="2871639"/>
            <a:ext cx="38022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표준화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971901" y="3039814"/>
            <a:ext cx="3802252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Practice 기반 프로세스 정립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667250" y="3248025"/>
            <a:ext cx="203150" cy="203150"/>
          </a:xfrm>
          <a:prstGeom prst="roundRect">
            <a:avLst>
              <a:gd name="adj" fmla="val 50012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736306" y="3292376"/>
            <a:ext cx="6618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BC9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971901" y="3248025"/>
            <a:ext cx="38022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C28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신뢰도 제고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971901" y="3416201"/>
            <a:ext cx="3802252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체계적 시스템으로 대외 신뢰성 강화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44401" y="3751362"/>
            <a:ext cx="8255198" cy="603052"/>
          </a:xfrm>
          <a:prstGeom prst="roundRect">
            <a:avLst>
              <a:gd name="adj" fmla="val 8424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98302" y="3895725"/>
            <a:ext cx="16006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투자 회수 기간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98302" y="4038600"/>
            <a:ext cx="16006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2.5년 내 투자비 회수 예상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160236" y="3878312"/>
            <a:ext cx="5044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150%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160236" y="4113163"/>
            <a:ext cx="50444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AAB7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ROI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972502" y="3878312"/>
            <a:ext cx="47788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5년+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72502" y="4113163"/>
            <a:ext cx="47788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AAB7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수명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01537" y="335607"/>
            <a:ext cx="414077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2501537" y="891183"/>
            <a:ext cx="414077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1400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선진인포텍 ERP 시스템 구축 제안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542133" y="1491258"/>
            <a:ext cx="4059585" cy="1056382"/>
          </a:xfrm>
          <a:prstGeom prst="roundRect">
            <a:avLst>
              <a:gd name="adj" fmla="val 7213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890157" y="1745159"/>
            <a:ext cx="336353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200" b="1" dirty="0">
                <a:solidFill>
                  <a:srgbClr val="3498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ERP 시스템</a:t>
            </a:r>
            <a:pPr algn="ctr" indent="0" marL="0">
              <a:lnSpc>
                <a:spcPts val="21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통해 선진인포텍의</a:t>
            </a:r>
            <a:endParaRPr lang="en-US" sz="1200" dirty="0"/>
          </a:p>
          <a:p>
            <a:pPr algn="ctr" indent="0" marL="0">
              <a:lnSpc>
                <a:spcPts val="21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업무 효율화와 데이터 기반 경영을 함께 실현하겠습니다.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838184" y="2928640"/>
            <a:ext cx="66475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AAB7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38184" y="3112740"/>
            <a:ext cx="6647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 구축팀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67483" y="2928640"/>
            <a:ext cx="10134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AAB7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67483" y="3112740"/>
            <a:ext cx="1013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erp@sunjin.net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41526" y="2928640"/>
            <a:ext cx="10679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AAB7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241526" y="3112740"/>
            <a:ext cx="10679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02-XXXX-XXXX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25639" y="3601641"/>
            <a:ext cx="1292423" cy="828377"/>
          </a:xfrm>
          <a:prstGeom prst="roundRect">
            <a:avLst>
              <a:gd name="adj" fmla="val 30662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236515" y="3906292"/>
            <a:ext cx="67067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 and 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01537" y="4683919"/>
            <a:ext cx="41407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선진인포텍(주)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선진인포텍(주)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선진인포텍 ERP 시스템 구축 제안서</dc:title>
  <dc:subject>ERP 시스템 구축 제안</dc:subject>
  <dc:creator>ERP 구축팀</dc:creator>
  <cp:lastModifiedBy>ERP 구축팀</cp:lastModifiedBy>
  <cp:revision>1</cp:revision>
  <dcterms:created xsi:type="dcterms:W3CDTF">2026-01-28T02:41:15Z</dcterms:created>
  <dcterms:modified xsi:type="dcterms:W3CDTF">2026-01-28T02:41:15Z</dcterms:modified>
</cp:coreProperties>
</file>