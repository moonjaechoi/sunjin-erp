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8858" y="1422350"/>
            <a:ext cx="45662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14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SUNJIN INFOTECH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288858" y="1822400"/>
            <a:ext cx="456628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시스템 구축 제안서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88858" y="2501801"/>
            <a:ext cx="456628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경영 정보 시스템 도입을 통한 업무 혁신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64050" y="3120926"/>
            <a:ext cx="1015901" cy="381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288858" y="3540026"/>
            <a:ext cx="45662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1월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174802" cy="51435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1964085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500"/>
              </a:spcAft>
              <a:buNone/>
            </a:pPr>
            <a:r>
              <a:rPr lang="en-US" sz="12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17450" y="2630835"/>
            <a:ext cx="259069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19202" y="698748"/>
            <a:ext cx="355550" cy="355550"/>
          </a:xfrm>
          <a:prstGeom prst="roundRect">
            <a:avLst>
              <a:gd name="adj" fmla="val 50007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47492" y="771823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65253" y="736848"/>
            <a:ext cx="241551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 현황 분석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65253" y="1006673"/>
            <a:ext cx="24155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선진인포텍 비즈니스 환경 및 요구사항 분석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19202" y="1447949"/>
            <a:ext cx="355550" cy="355550"/>
          </a:xfrm>
          <a:prstGeom prst="roundRect">
            <a:avLst>
              <a:gd name="adj" fmla="val 50007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47492" y="1521023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65253" y="1486049"/>
            <a:ext cx="176002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도입 필요성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65253" y="1755874"/>
            <a:ext cx="17600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경영 시스템의 전략적 가치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9202" y="2197150"/>
            <a:ext cx="355550" cy="355550"/>
          </a:xfrm>
          <a:prstGeom prst="roundRect">
            <a:avLst>
              <a:gd name="adj" fmla="val 50007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747492" y="2270224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65253" y="2235250"/>
            <a:ext cx="155311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구성 및 기능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65253" y="2505075"/>
            <a:ext cx="15531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모듈 및 주요 기능 소개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19202" y="2946350"/>
            <a:ext cx="355550" cy="355550"/>
          </a:xfrm>
          <a:prstGeom prst="roundRect">
            <a:avLst>
              <a:gd name="adj" fmla="val 50007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47492" y="3019425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65253" y="2984450"/>
            <a:ext cx="13903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구축 방법론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65253" y="3254276"/>
            <a:ext cx="13903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추진 전략 및 일정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19202" y="3695551"/>
            <a:ext cx="355550" cy="355550"/>
          </a:xfrm>
          <a:prstGeom prst="roundRect">
            <a:avLst>
              <a:gd name="adj" fmla="val 50007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747492" y="3768626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65253" y="3733651"/>
            <a:ext cx="15625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비용 및 기대효과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65253" y="4003477"/>
            <a:ext cx="15625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분석 및 정량적 효과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42900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416" y="290513"/>
            <a:ext cx="194492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선진인포텍 현황 분석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4401" y="1047750"/>
            <a:ext cx="4000649" cy="79920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63451" y="1047750"/>
            <a:ext cx="0" cy="799207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451" y="1174700"/>
            <a:ext cx="37828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 개요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451" y="1400026"/>
            <a:ext cx="378282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네트워크, 영상 분야 토탈 솔루션 제공 IT 전문기업으로 물리보안, AI 분석, 네트워크 방송 시스템 등 다양한 솔루션 사업 영위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4401" y="1973907"/>
            <a:ext cx="4000649" cy="79920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3451" y="1973907"/>
            <a:ext cx="0" cy="799207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451" y="2100858"/>
            <a:ext cx="37828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사업 분야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451" y="2326184"/>
            <a:ext cx="378282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영상/물리보안 시스템, 스마트선별관제, AI 리테일 분석, KVM/A/V 솔루션, 네트워크 데이터 보안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4401" y="2900065"/>
            <a:ext cx="4000649" cy="79920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3451" y="2900065"/>
            <a:ext cx="0" cy="799207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451" y="3027015"/>
            <a:ext cx="37828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가치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451" y="3252341"/>
            <a:ext cx="378282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전문성, 신뢰성, 개방성, 자율성, 상호존중을 바탕으로 고객과 파트너사에 최선의 서비스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98950" y="1047750"/>
            <a:ext cx="40806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조직 구성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98950" y="1336625"/>
            <a:ext cx="4000649" cy="453926"/>
          </a:xfrm>
          <a:prstGeom prst="roundRect">
            <a:avLst>
              <a:gd name="adj" fmla="val 11191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25901" y="1412825"/>
            <a:ext cx="3821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경영지원부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5901" y="1590526"/>
            <a:ext cx="3821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관리팀, 무역팀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98950" y="1853952"/>
            <a:ext cx="4000649" cy="453926"/>
          </a:xfrm>
          <a:prstGeom prst="roundRect">
            <a:avLst>
              <a:gd name="adj" fmla="val 11191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25901" y="1930152"/>
            <a:ext cx="3821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 사업부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25901" y="2107853"/>
            <a:ext cx="3821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 1팀, 영업 2팀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98950" y="2371279"/>
            <a:ext cx="4000649" cy="453926"/>
          </a:xfrm>
          <a:prstGeom prst="roundRect">
            <a:avLst>
              <a:gd name="adj" fmla="val 11191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25901" y="2447479"/>
            <a:ext cx="3821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기술부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25901" y="2625179"/>
            <a:ext cx="3821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1팀, 기술 2팀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98950" y="2888605"/>
            <a:ext cx="4000649" cy="453926"/>
          </a:xfrm>
          <a:prstGeom prst="roundRect">
            <a:avLst>
              <a:gd name="adj" fmla="val 11191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25901" y="2964805"/>
            <a:ext cx="3821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사업부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5901" y="3142506"/>
            <a:ext cx="3821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 1팀, 영업 2팀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98950" y="3405932"/>
            <a:ext cx="4000649" cy="453926"/>
          </a:xfrm>
          <a:prstGeom prst="roundRect">
            <a:avLst>
              <a:gd name="adj" fmla="val 11191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25901" y="3482132"/>
            <a:ext cx="3821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기업부설 연구소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25901" y="3659832"/>
            <a:ext cx="3821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1팀, 연구 2팀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98950" y="3923258"/>
            <a:ext cx="4000649" cy="453926"/>
          </a:xfrm>
          <a:prstGeom prst="roundRect">
            <a:avLst>
              <a:gd name="adj" fmla="val 11191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25901" y="3999458"/>
            <a:ext cx="3821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컨설팅 사업부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25901" y="4177159"/>
            <a:ext cx="3821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1팀, 사업 2팀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42900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416" y="290513"/>
            <a:ext cx="200974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업무 환경의 과제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4401" y="1047750"/>
            <a:ext cx="84203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사업부 운영에 따른 업무 비효율 발생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4401" y="1419225"/>
            <a:ext cx="1920925" cy="1246882"/>
          </a:xfrm>
          <a:prstGeom prst="rect">
            <a:avLst/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44401" y="1438275"/>
            <a:ext cx="1920925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6801" y="1609725"/>
            <a:ext cx="16484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6801" y="1977926"/>
            <a:ext cx="16484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분산 관리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6801" y="2193727"/>
            <a:ext cx="164844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부서별 개별 시스템 운영으로 데이터 일관성 부족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55825" y="1419225"/>
            <a:ext cx="1920925" cy="1246882"/>
          </a:xfrm>
          <a:prstGeom prst="rect">
            <a:avLst/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555825" y="1438275"/>
            <a:ext cx="1920925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08225" y="1609725"/>
            <a:ext cx="16484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08225" y="1977926"/>
            <a:ext cx="16484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프로세스 단절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08225" y="2193727"/>
            <a:ext cx="164844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영업-기술-경영지원 간 정보 흐름 지연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7250" y="1419225"/>
            <a:ext cx="1920925" cy="1246882"/>
          </a:xfrm>
          <a:prstGeom prst="rect">
            <a:avLst/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67250" y="1438275"/>
            <a:ext cx="1920925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9650" y="1609725"/>
            <a:ext cx="16484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19650" y="1977926"/>
            <a:ext cx="16484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수작업 의존도 높음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19650" y="2193727"/>
            <a:ext cx="164844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기반 업무로 인한 데이터 오류 발생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78675" y="1419225"/>
            <a:ext cx="1920925" cy="1246882"/>
          </a:xfrm>
          <a:prstGeom prst="rect">
            <a:avLst/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778675" y="1438275"/>
            <a:ext cx="1920925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1075" y="1609725"/>
            <a:ext cx="16484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31075" y="1977926"/>
            <a:ext cx="16484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현황 파악 한계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31075" y="2193727"/>
            <a:ext cx="164844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프로젝트, 재고, 매출 현황 모니터링 불가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1849" y="2983557"/>
            <a:ext cx="842030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4401" y="3348633"/>
            <a:ext cx="8255198" cy="434876"/>
          </a:xfrm>
          <a:prstGeom prst="roundRect">
            <a:avLst>
              <a:gd name="adj" fmla="val 17522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1338" y="3475583"/>
            <a:ext cx="81613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ERP 시스템 도입을 통한 업무 혁신 필요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4052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406301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416" y="339626"/>
            <a:ext cx="179220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도입 필요성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44401" y="1301502"/>
            <a:ext cx="2667298" cy="837456"/>
          </a:xfrm>
          <a:prstGeom prst="roundRect">
            <a:avLst>
              <a:gd name="adj" fmla="val 909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45390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4885" y="1520577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2101" y="1453902"/>
            <a:ext cx="18656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표준화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2101" y="1666577"/>
            <a:ext cx="186568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전사 업무 프로세스 표준화로 일관된 업무 수행 및 품질 향상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4401" y="2291358"/>
            <a:ext cx="2667298" cy="837456"/>
          </a:xfrm>
          <a:prstGeom prst="roundRect">
            <a:avLst>
              <a:gd name="adj" fmla="val 909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4901" y="2443758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4885" y="2510433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2101" y="2443758"/>
            <a:ext cx="18656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정보 공유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2101" y="2656433"/>
            <a:ext cx="186568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부서 간 데이터 실시간 연동으로 신속한 의사결정 지원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4401" y="3281214"/>
            <a:ext cx="2667298" cy="837456"/>
          </a:xfrm>
          <a:prstGeom prst="roundRect">
            <a:avLst>
              <a:gd name="adj" fmla="val 909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4901" y="3433614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4885" y="3500289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2101" y="3433614"/>
            <a:ext cx="18656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효율성 향상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2101" y="3646289"/>
            <a:ext cx="186568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업무 자동화로 핵심 업무 집중도 향상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149" y="1301502"/>
            <a:ext cx="2285702" cy="3524548"/>
          </a:xfrm>
          <a:prstGeom prst="roundRect">
            <a:avLst>
              <a:gd name="adj" fmla="val 4445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053437" y="2676525"/>
            <a:ext cx="1036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32150" y="2930426"/>
            <a:ext cx="4795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240307" y="3197126"/>
            <a:ext cx="6633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2302" y="1301502"/>
            <a:ext cx="2667298" cy="837456"/>
          </a:xfrm>
          <a:prstGeom prst="roundRect">
            <a:avLst>
              <a:gd name="adj" fmla="val 909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22802" y="1453902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32786" y="1520577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80002" y="1453902"/>
            <a:ext cx="18656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기반 경영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80002" y="1666577"/>
            <a:ext cx="186568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데이터 분석으로 과학적 경영 의사결정 가능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32302" y="2291358"/>
            <a:ext cx="2667298" cy="677466"/>
          </a:xfrm>
          <a:prstGeom prst="roundRect">
            <a:avLst>
              <a:gd name="adj" fmla="val 1124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22802" y="2443758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332786" y="2510433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80002" y="2443758"/>
            <a:ext cx="18656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절감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80002" y="2656433"/>
            <a:ext cx="18656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업무 제거 및 운영 비용 최적화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32302" y="3121223"/>
            <a:ext cx="2667298" cy="677466"/>
          </a:xfrm>
          <a:prstGeom prst="roundRect">
            <a:avLst>
              <a:gd name="adj" fmla="val 1124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22802" y="3273623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332786" y="3340298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80002" y="3273623"/>
            <a:ext cx="18656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 기반 구축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80002" y="3486299"/>
            <a:ext cx="18656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가능한 시스템으로 사업 성장 지원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4052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406301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416" y="339626"/>
            <a:ext cx="17123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구성 개요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1849" y="1237952"/>
            <a:ext cx="84203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선진인포텍 맞춤형 ERP 시스템 아키텍처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4401" y="1628477"/>
            <a:ext cx="1218902" cy="609302"/>
          </a:xfrm>
          <a:prstGeom prst="roundRect">
            <a:avLst>
              <a:gd name="adj" fmla="val 8337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9099" y="1856929"/>
            <a:ext cx="3360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64804" y="1628477"/>
            <a:ext cx="2243882" cy="609302"/>
          </a:xfrm>
          <a:prstGeom prst="roundRect">
            <a:avLst>
              <a:gd name="adj" fmla="val 8337"/>
            </a:avLst>
          </a:prstGeom>
          <a:solidFill>
            <a:srgbClr val="E8F4FD"/>
          </a:solidFill>
          <a:ln w="9525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881570" y="1764953"/>
            <a:ext cx="2010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브라우저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81570" y="1968103"/>
            <a:ext cx="2010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PC/노트북 접속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0186" y="1628477"/>
            <a:ext cx="2244030" cy="609302"/>
          </a:xfrm>
          <a:prstGeom prst="roundRect">
            <a:avLst>
              <a:gd name="adj" fmla="val 8337"/>
            </a:avLst>
          </a:prstGeom>
          <a:solidFill>
            <a:srgbClr val="E8F4FD"/>
          </a:solidFill>
          <a:ln w="9525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26951" y="1764953"/>
            <a:ext cx="20105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앱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26951" y="1968103"/>
            <a:ext cx="20105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스마트폰/태블릿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55718" y="1628477"/>
            <a:ext cx="2243882" cy="609302"/>
          </a:xfrm>
          <a:prstGeom prst="roundRect">
            <a:avLst>
              <a:gd name="adj" fmla="val 8337"/>
            </a:avLst>
          </a:prstGeom>
          <a:solidFill>
            <a:srgbClr val="E8F4FD"/>
          </a:solidFill>
          <a:ln w="9525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72484" y="1764953"/>
            <a:ext cx="2010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72484" y="1968103"/>
            <a:ext cx="20103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경영진 현황판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4401" y="2364730"/>
            <a:ext cx="1218902" cy="609302"/>
          </a:xfrm>
          <a:prstGeom prst="roundRect">
            <a:avLst>
              <a:gd name="adj" fmla="val 8337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6471" y="2593181"/>
            <a:ext cx="4841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모듈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64804" y="2364730"/>
            <a:ext cx="1305669" cy="609302"/>
          </a:xfrm>
          <a:prstGeom prst="roundRect">
            <a:avLst>
              <a:gd name="adj" fmla="val 8337"/>
            </a:avLst>
          </a:prstGeom>
          <a:solidFill>
            <a:srgbClr val="3498DB"/>
          </a:solidFill>
          <a:ln w="9525">
            <a:solidFill>
              <a:srgbClr val="2980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890952" y="2501205"/>
            <a:ext cx="10533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영업관리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90952" y="2704356"/>
            <a:ext cx="10533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견적/수주/고객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71974" y="2364730"/>
            <a:ext cx="1305818" cy="609302"/>
          </a:xfrm>
          <a:prstGeom prst="roundRect">
            <a:avLst>
              <a:gd name="adj" fmla="val 8337"/>
            </a:avLst>
          </a:prstGeom>
          <a:solidFill>
            <a:srgbClr val="3498DB"/>
          </a:solidFill>
          <a:ln w="9525">
            <a:solidFill>
              <a:srgbClr val="2980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298121" y="2501205"/>
            <a:ext cx="1053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프로젝트관리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8121" y="2704356"/>
            <a:ext cx="10535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일정/인력/진척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9293" y="2364730"/>
            <a:ext cx="1305669" cy="609302"/>
          </a:xfrm>
          <a:prstGeom prst="roundRect">
            <a:avLst>
              <a:gd name="adj" fmla="val 8337"/>
            </a:avLst>
          </a:prstGeom>
          <a:solidFill>
            <a:srgbClr val="3498DB"/>
          </a:solidFill>
          <a:ln w="9525">
            <a:solidFill>
              <a:srgbClr val="2980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05441" y="2501205"/>
            <a:ext cx="10533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재고/구매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5441" y="2704356"/>
            <a:ext cx="10533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자재/발주/입출고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86463" y="2364730"/>
            <a:ext cx="1305818" cy="609302"/>
          </a:xfrm>
          <a:prstGeom prst="roundRect">
            <a:avLst>
              <a:gd name="adj" fmla="val 8337"/>
            </a:avLst>
          </a:prstGeom>
          <a:solidFill>
            <a:srgbClr val="3498DB"/>
          </a:solidFill>
          <a:ln w="9525">
            <a:solidFill>
              <a:srgbClr val="2980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12609" y="2501205"/>
            <a:ext cx="1053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회계/재무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12609" y="2704356"/>
            <a:ext cx="10535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전표/결산/원가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93781" y="2364730"/>
            <a:ext cx="1305818" cy="609302"/>
          </a:xfrm>
          <a:prstGeom prst="roundRect">
            <a:avLst>
              <a:gd name="adj" fmla="val 8337"/>
            </a:avLst>
          </a:prstGeom>
          <a:solidFill>
            <a:srgbClr val="3498DB"/>
          </a:solidFill>
          <a:ln w="9525">
            <a:solidFill>
              <a:srgbClr val="2980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519928" y="2501205"/>
            <a:ext cx="1053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인사/급여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19928" y="2704356"/>
            <a:ext cx="10535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근태/급여/평가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44401" y="3100983"/>
            <a:ext cx="1218902" cy="609302"/>
          </a:xfrm>
          <a:prstGeom prst="roundRect">
            <a:avLst>
              <a:gd name="adj" fmla="val 8337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16471" y="3329434"/>
            <a:ext cx="4841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 모듈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764804" y="3100983"/>
            <a:ext cx="1657499" cy="609302"/>
          </a:xfrm>
          <a:prstGeom prst="roundRect">
            <a:avLst>
              <a:gd name="adj" fmla="val 8337"/>
            </a:avLst>
          </a:prstGeom>
          <a:solidFill>
            <a:srgbClr val="E8F4FD"/>
          </a:solidFill>
          <a:ln w="9525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887434" y="3237458"/>
            <a:ext cx="14122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기술지원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887434" y="3440609"/>
            <a:ext cx="14122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AS/유지보수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523804" y="3100983"/>
            <a:ext cx="1657648" cy="609302"/>
          </a:xfrm>
          <a:prstGeom prst="roundRect">
            <a:avLst>
              <a:gd name="adj" fmla="val 8337"/>
            </a:avLst>
          </a:prstGeom>
          <a:solidFill>
            <a:srgbClr val="E8F4FD"/>
          </a:solidFill>
          <a:ln w="9525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646432" y="3237458"/>
            <a:ext cx="14123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전자결재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46432" y="3440609"/>
            <a:ext cx="14123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워크플로우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282952" y="3100983"/>
            <a:ext cx="1657499" cy="609302"/>
          </a:xfrm>
          <a:prstGeom prst="roundRect">
            <a:avLst>
              <a:gd name="adj" fmla="val 8337"/>
            </a:avLst>
          </a:prstGeom>
          <a:solidFill>
            <a:srgbClr val="E8F4FD"/>
          </a:solidFill>
          <a:ln w="9525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405582" y="3237458"/>
            <a:ext cx="14122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문서관리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05582" y="3440609"/>
            <a:ext cx="14122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도면/계약서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041952" y="3100983"/>
            <a:ext cx="1657648" cy="609302"/>
          </a:xfrm>
          <a:prstGeom prst="roundRect">
            <a:avLst>
              <a:gd name="adj" fmla="val 8337"/>
            </a:avLst>
          </a:prstGeom>
          <a:solidFill>
            <a:srgbClr val="E8F4FD"/>
          </a:solidFill>
          <a:ln w="9525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164580" y="3237458"/>
            <a:ext cx="14123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알림/공지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164580" y="3440609"/>
            <a:ext cx="14123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메일/SMS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44401" y="3837236"/>
            <a:ext cx="1218902" cy="609302"/>
          </a:xfrm>
          <a:prstGeom prst="roundRect">
            <a:avLst>
              <a:gd name="adj" fmla="val 8337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89099" y="4065687"/>
            <a:ext cx="3360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764804" y="3837236"/>
            <a:ext cx="1657499" cy="609302"/>
          </a:xfrm>
          <a:prstGeom prst="roundRect">
            <a:avLst>
              <a:gd name="adj" fmla="val 8337"/>
            </a:avLst>
          </a:prstGeom>
          <a:solidFill>
            <a:srgbClr val="1C2833"/>
          </a:solidFill>
          <a:ln w="9525">
            <a:solidFill>
              <a:srgbClr val="1C28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887434" y="3973711"/>
            <a:ext cx="14122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Database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887434" y="4167336"/>
            <a:ext cx="14122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저장/관리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523804" y="3837236"/>
            <a:ext cx="1657648" cy="609302"/>
          </a:xfrm>
          <a:prstGeom prst="roundRect">
            <a:avLst>
              <a:gd name="adj" fmla="val 8337"/>
            </a:avLst>
          </a:prstGeom>
          <a:solidFill>
            <a:srgbClr val="1C2833"/>
          </a:solidFill>
          <a:ln w="9525">
            <a:solidFill>
              <a:srgbClr val="1C28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646432" y="3973711"/>
            <a:ext cx="1412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Server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646432" y="4167336"/>
            <a:ext cx="14123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애플리케이션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282952" y="3837236"/>
            <a:ext cx="1657499" cy="609302"/>
          </a:xfrm>
          <a:prstGeom prst="roundRect">
            <a:avLst>
              <a:gd name="adj" fmla="val 8337"/>
            </a:avLst>
          </a:prstGeom>
          <a:solidFill>
            <a:srgbClr val="1C2833"/>
          </a:solidFill>
          <a:ln w="9525">
            <a:solidFill>
              <a:srgbClr val="1C28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5405582" y="3973711"/>
            <a:ext cx="14122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405582" y="4167336"/>
            <a:ext cx="14122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연동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041952" y="3837236"/>
            <a:ext cx="1657648" cy="609302"/>
          </a:xfrm>
          <a:prstGeom prst="roundRect">
            <a:avLst>
              <a:gd name="adj" fmla="val 8337"/>
            </a:avLst>
          </a:prstGeom>
          <a:solidFill>
            <a:srgbClr val="1C2833"/>
          </a:solidFill>
          <a:ln w="9525">
            <a:solidFill>
              <a:srgbClr val="1C28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164580" y="3973711"/>
            <a:ext cx="14123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클라우드/온프레미스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164580" y="4176861"/>
            <a:ext cx="14123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유연한 배포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42900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416" y="290513"/>
            <a:ext cx="188556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모듈 - 영업관리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4401" y="1047750"/>
            <a:ext cx="4000649" cy="434876"/>
          </a:xfrm>
          <a:prstGeom prst="roundRect">
            <a:avLst>
              <a:gd name="adj" fmla="val 11681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6801" y="1174700"/>
            <a:ext cx="37697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영업관리 모듈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4401" y="1482626"/>
            <a:ext cx="4000649" cy="339715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440287" y="1482626"/>
            <a:ext cx="0" cy="339715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4401" y="4875014"/>
            <a:ext cx="400064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163" y="1482626"/>
            <a:ext cx="0" cy="339715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876" y="1723876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7798" y="1609576"/>
            <a:ext cx="165148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고객정보 통합 관리 (거래처, 담당자)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0876" y="2171551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7798" y="2057251"/>
            <a:ext cx="113808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견적서 작성 및 버전 관리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0876" y="2619226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7798" y="2504926"/>
            <a:ext cx="103728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수주 등록 및 계약 관리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0876" y="3066901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7798" y="2952601"/>
            <a:ext cx="117420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영업기회 파이프라인 관리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0876" y="3514576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7798" y="3400276"/>
            <a:ext cx="133982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매출 목표 대비 실적 모니터링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0876" y="3962251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7798" y="3847951"/>
            <a:ext cx="130734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영업사원별 실적 분석 리포트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0876" y="4409926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7798" y="4295626"/>
            <a:ext cx="121580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알림 (납기, 계약만료)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98950" y="1047750"/>
            <a:ext cx="40806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 프로세스 흐름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98950" y="144452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81401" y="1492151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051" y="1336625"/>
            <a:ext cx="3670548" cy="444401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038576" y="1336625"/>
            <a:ext cx="0" cy="444401"/>
          </a:xfrm>
          <a:prstGeom prst="line">
            <a:avLst/>
          </a:prstGeom>
          <a:noFill/>
          <a:ln w="19050">
            <a:solidFill>
              <a:srgbClr val="3498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75052" y="1412825"/>
            <a:ext cx="34655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영업기회 등록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75052" y="1581001"/>
            <a:ext cx="34655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잠재고객 발굴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58944" y="1857226"/>
            <a:ext cx="4080662" cy="142875"/>
          </a:xfrm>
          <a:prstGeom prst="rect">
            <a:avLst/>
          </a:prstGeom>
          <a:noFill/>
          <a:ln/>
        </p:spPr>
        <p:txBody>
          <a:bodyPr wrap="square" lIns="22860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98950" y="218420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781401" y="2231827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051" y="2076301"/>
            <a:ext cx="3670548" cy="444401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038576" y="2076301"/>
            <a:ext cx="0" cy="444401"/>
          </a:xfrm>
          <a:prstGeom prst="line">
            <a:avLst/>
          </a:prstGeom>
          <a:noFill/>
          <a:ln w="19050">
            <a:solidFill>
              <a:srgbClr val="3498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75052" y="2152501"/>
            <a:ext cx="34655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 제출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75052" y="2320677"/>
            <a:ext cx="34655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견적서 작성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58944" y="2596902"/>
            <a:ext cx="4080662" cy="142875"/>
          </a:xfrm>
          <a:prstGeom prst="rect">
            <a:avLst/>
          </a:prstGeom>
          <a:noFill/>
          <a:ln/>
        </p:spPr>
        <p:txBody>
          <a:bodyPr wrap="square" lIns="22860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98950" y="292387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81401" y="297150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29051" y="2815977"/>
            <a:ext cx="3670548" cy="444401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038576" y="2815977"/>
            <a:ext cx="0" cy="444401"/>
          </a:xfrm>
          <a:prstGeom prst="line">
            <a:avLst/>
          </a:prstGeom>
          <a:noFill/>
          <a:ln w="19050">
            <a:solidFill>
              <a:srgbClr val="3498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75052" y="2892177"/>
            <a:ext cx="34655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수주 확정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75052" y="3060353"/>
            <a:ext cx="34655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 체결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658944" y="3336578"/>
            <a:ext cx="4080662" cy="142875"/>
          </a:xfrm>
          <a:prstGeom prst="rect">
            <a:avLst/>
          </a:prstGeom>
          <a:noFill/>
          <a:ln/>
        </p:spPr>
        <p:txBody>
          <a:bodyPr wrap="square" lIns="22860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698950" y="366355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781401" y="3711178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051" y="3555653"/>
            <a:ext cx="3670548" cy="444401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5038576" y="3555653"/>
            <a:ext cx="0" cy="444401"/>
          </a:xfrm>
          <a:prstGeom prst="line">
            <a:avLst/>
          </a:prstGeom>
          <a:noFill/>
          <a:ln w="19050">
            <a:solidFill>
              <a:srgbClr val="3498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75052" y="3631853"/>
            <a:ext cx="34655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연계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75052" y="3800029"/>
            <a:ext cx="34655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모듈 연동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42900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416" y="290513"/>
            <a:ext cx="228906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모듈 - 프로젝트관리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4401" y="1047750"/>
            <a:ext cx="3636913" cy="434876"/>
          </a:xfrm>
          <a:prstGeom prst="roundRect">
            <a:avLst>
              <a:gd name="adj" fmla="val 11681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6801" y="1174700"/>
            <a:ext cx="33987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프로젝트관리 모듈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4401" y="1482626"/>
            <a:ext cx="3636913" cy="339715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76551" y="1482626"/>
            <a:ext cx="0" cy="339715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4401" y="4875014"/>
            <a:ext cx="3636913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163" y="1482626"/>
            <a:ext cx="0" cy="339715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876" y="1723876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7798" y="1609576"/>
            <a:ext cx="144062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생성 및 기본정보 관리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0876" y="2171551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7798" y="2057251"/>
            <a:ext cx="156935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WBS 기반 작업 분해 및 일정 수립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0876" y="2619226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7798" y="2504926"/>
            <a:ext cx="103728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인력 배정 및 공수 관리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0876" y="3066901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7798" y="2952601"/>
            <a:ext cx="133982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진척률 자동 산출 및 모니터링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0876" y="3514576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7798" y="3400276"/>
            <a:ext cx="113808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이슈/리스크 등록 및 추적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0876" y="3962251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7798" y="3847951"/>
            <a:ext cx="113808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 등록 및 버전 관리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0876" y="4409926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7798" y="4295626"/>
            <a:ext cx="130734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수익성 분석 리포트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35214" y="1047750"/>
            <a:ext cx="44516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간트 차트 기반 일정 관리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35214" y="1336625"/>
            <a:ext cx="4364385" cy="1752005"/>
          </a:xfrm>
          <a:prstGeom prst="roundRect">
            <a:avLst>
              <a:gd name="adj" fmla="val 29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487614" y="1515963"/>
            <a:ext cx="7772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요구분석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49614" y="1489025"/>
            <a:ext cx="3297585" cy="177701"/>
          </a:xfrm>
          <a:prstGeom prst="roundRect">
            <a:avLst>
              <a:gd name="adj" fmla="val 14294"/>
            </a:avLst>
          </a:prstGeom>
          <a:solidFill>
            <a:srgbClr val="E5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49614" y="1489025"/>
            <a:ext cx="659457" cy="177701"/>
          </a:xfrm>
          <a:prstGeom prst="roundRect">
            <a:avLst>
              <a:gd name="adj" fmla="val 14294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487614" y="1769864"/>
            <a:ext cx="7772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49614" y="1742926"/>
            <a:ext cx="3297585" cy="177701"/>
          </a:xfrm>
          <a:prstGeom prst="roundRect">
            <a:avLst>
              <a:gd name="adj" fmla="val 14294"/>
            </a:avLst>
          </a:prstGeom>
          <a:solidFill>
            <a:srgbClr val="E5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744170" y="1742926"/>
            <a:ext cx="824359" cy="177701"/>
          </a:xfrm>
          <a:prstGeom prst="roundRect">
            <a:avLst>
              <a:gd name="adj" fmla="val 14294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487614" y="2023765"/>
            <a:ext cx="7772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49614" y="1996827"/>
            <a:ext cx="3297585" cy="177701"/>
          </a:xfrm>
          <a:prstGeom prst="roundRect">
            <a:avLst>
              <a:gd name="adj" fmla="val 14294"/>
            </a:avLst>
          </a:prstGeom>
          <a:solidFill>
            <a:srgbClr val="E5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38875" y="1996827"/>
            <a:ext cx="1318915" cy="177701"/>
          </a:xfrm>
          <a:prstGeom prst="roundRect">
            <a:avLst>
              <a:gd name="adj" fmla="val 14294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487614" y="2277666"/>
            <a:ext cx="7772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49614" y="2250728"/>
            <a:ext cx="3297585" cy="177701"/>
          </a:xfrm>
          <a:prstGeom prst="roundRect">
            <a:avLst>
              <a:gd name="adj" fmla="val 14294"/>
            </a:avLst>
          </a:prstGeom>
          <a:solidFill>
            <a:srgbClr val="E5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228136" y="2250728"/>
            <a:ext cx="824359" cy="177701"/>
          </a:xfrm>
          <a:prstGeom prst="roundRect">
            <a:avLst>
              <a:gd name="adj" fmla="val 14294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487614" y="2531566"/>
            <a:ext cx="7772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249614" y="2504629"/>
            <a:ext cx="3297585" cy="177701"/>
          </a:xfrm>
          <a:prstGeom prst="roundRect">
            <a:avLst>
              <a:gd name="adj" fmla="val 14294"/>
            </a:avLst>
          </a:prstGeom>
          <a:solidFill>
            <a:srgbClr val="E5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887593" y="2504629"/>
            <a:ext cx="659457" cy="177701"/>
          </a:xfrm>
          <a:prstGeom prst="roundRect">
            <a:avLst>
              <a:gd name="adj" fmla="val 14294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487614" y="2809280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665315" y="2820293"/>
            <a:ext cx="156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946154" y="2809280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123855" y="2820293"/>
            <a:ext cx="156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404693" y="2809280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582394" y="2820293"/>
            <a:ext cx="156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863233" y="2809280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040934" y="2820293"/>
            <a:ext cx="2352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398568" y="2809280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576268" y="2820293"/>
            <a:ext cx="156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42900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416" y="290513"/>
            <a:ext cx="241855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모듈 - 재고/구매 관리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4401" y="1047750"/>
            <a:ext cx="2794099" cy="415826"/>
          </a:xfrm>
          <a:prstGeom prst="roundRect">
            <a:avLst>
              <a:gd name="adj" fmla="val 12217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6801" y="1174700"/>
            <a:ext cx="25390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재고관리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4401" y="1463576"/>
            <a:ext cx="2794099" cy="28726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3737" y="1463576"/>
            <a:ext cx="0" cy="287268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4401" y="4331494"/>
            <a:ext cx="279409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163" y="1463576"/>
            <a:ext cx="0" cy="287268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876" y="1704826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7798" y="1590526"/>
            <a:ext cx="101101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품목 마스터 및 분류 체계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80876" y="2139702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7798" y="2025402"/>
            <a:ext cx="982328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입출고 이력 실시간 추적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0876" y="2574578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7798" y="2460278"/>
            <a:ext cx="92145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 실사 및 조정 기능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80876" y="3009454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7798" y="2895154"/>
            <a:ext cx="77435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안전재고 알림 설정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0876" y="3444329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7798" y="3330029"/>
            <a:ext cx="89261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창고/위치별 재고 현황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80876" y="3879205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7798" y="3764905"/>
            <a:ext cx="91310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시리얼/LOT 번호 관리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29000" y="1047750"/>
            <a:ext cx="2794099" cy="415826"/>
          </a:xfrm>
          <a:prstGeom prst="roundRect">
            <a:avLst>
              <a:gd name="adj" fmla="val 12217"/>
            </a:avLst>
          </a:prstGeom>
          <a:solidFill>
            <a:srgbClr val="8E44A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581400" y="1174700"/>
            <a:ext cx="25390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구매관리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9000" y="1463576"/>
            <a:ext cx="2794099" cy="28726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218337" y="1463576"/>
            <a:ext cx="0" cy="287268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29000" y="4331494"/>
            <a:ext cx="279409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33763" y="1463576"/>
            <a:ext cx="0" cy="287268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5475" y="1704826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02397" y="1590526"/>
            <a:ext cx="1161458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구매요청 및 승인 워크플로우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565475" y="2139702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02397" y="2025402"/>
            <a:ext cx="803047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발주서 생성 및 전송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565475" y="2574578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02397" y="2460278"/>
            <a:ext cx="77435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협력업체 정보 관리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565475" y="3009454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02397" y="2895154"/>
            <a:ext cx="92145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입고 검수 및 품질 관리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565475" y="3444329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702397" y="3330029"/>
            <a:ext cx="77435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구매 단가 히스토리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565475" y="3879205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02397" y="3764905"/>
            <a:ext cx="803047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월별 구매 실적 분석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90739" y="10477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재고/구매 프로세스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02573" y="1327100"/>
            <a:ext cx="2508052" cy="475952"/>
          </a:xfrm>
          <a:prstGeom prst="roundRect">
            <a:avLst>
              <a:gd name="adj" fmla="val 10673"/>
            </a:avLst>
          </a:prstGeom>
          <a:solidFill>
            <a:srgbClr val="F5EEF8"/>
          </a:solidFill>
          <a:ln w="9525">
            <a:solidFill>
              <a:srgbClr val="8E44A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390739" y="1438126"/>
            <a:ext cx="23317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구매요청/발주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90739" y="1587252"/>
            <a:ext cx="23317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워크플로우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493645" y="1866454"/>
            <a:ext cx="128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02573" y="2072729"/>
            <a:ext cx="2508052" cy="475952"/>
          </a:xfrm>
          <a:prstGeom prst="roundRect">
            <a:avLst>
              <a:gd name="adj" fmla="val 10673"/>
            </a:avLst>
          </a:prstGeom>
          <a:solidFill>
            <a:srgbClr val="FEF5E7"/>
          </a:solidFill>
          <a:ln w="9525">
            <a:solidFill>
              <a:srgbClr val="E67E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390739" y="2183755"/>
            <a:ext cx="23317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입고/검수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390739" y="2332881"/>
            <a:ext cx="23317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확인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7493645" y="2612082"/>
            <a:ext cx="128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302573" y="2818358"/>
            <a:ext cx="2508052" cy="475952"/>
          </a:xfrm>
          <a:prstGeom prst="roundRect">
            <a:avLst>
              <a:gd name="adj" fmla="val 10673"/>
            </a:avLst>
          </a:prstGeom>
          <a:solidFill>
            <a:srgbClr val="E8F8F5"/>
          </a:solidFill>
          <a:ln w="9525">
            <a:solidFill>
              <a:srgbClr val="1ABC9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390739" y="2929384"/>
            <a:ext cx="23317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 등록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390739" y="3078510"/>
            <a:ext cx="23317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 배정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493645" y="3357711"/>
            <a:ext cx="128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02573" y="3563987"/>
            <a:ext cx="2508052" cy="475952"/>
          </a:xfrm>
          <a:prstGeom prst="roundRect">
            <a:avLst>
              <a:gd name="adj" fmla="val 10673"/>
            </a:avLst>
          </a:prstGeom>
          <a:solidFill>
            <a:srgbClr val="EBF5FB"/>
          </a:solidFill>
          <a:ln w="9525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390739" y="3675013"/>
            <a:ext cx="23317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출고/사용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390739" y="3824139"/>
            <a:ext cx="23317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연계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42900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416" y="290513"/>
            <a:ext cx="195038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모듈 - 회계/재무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4401" y="1047750"/>
            <a:ext cx="4000649" cy="434876"/>
          </a:xfrm>
          <a:prstGeom prst="roundRect">
            <a:avLst>
              <a:gd name="adj" fmla="val 11681"/>
            </a:avLst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6801" y="1174700"/>
            <a:ext cx="37697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회계/재무 모듈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4401" y="1482626"/>
            <a:ext cx="4000649" cy="339715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440287" y="1482626"/>
            <a:ext cx="0" cy="339715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4401" y="4875014"/>
            <a:ext cx="400064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163" y="1482626"/>
            <a:ext cx="0" cy="339715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876" y="1723876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7798" y="1609576"/>
            <a:ext cx="103728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전표 입력 및 자동 분개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0876" y="2171551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7798" y="2057251"/>
            <a:ext cx="120654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매출/매입 세금계산서 관리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0876" y="2619226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7798" y="2504926"/>
            <a:ext cx="12713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채권/채무 관리 및 잔액 조회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0876" y="3066901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7798" y="2952601"/>
            <a:ext cx="12713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자금 계획 및 현금 흐름 관리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0876" y="3514576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7798" y="3400276"/>
            <a:ext cx="97246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프로젝트별 원가 집계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0876" y="3962251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7798" y="3847951"/>
            <a:ext cx="123903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결산 마감 및 재무제표 생성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0876" y="4409926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7798" y="4295626"/>
            <a:ext cx="110574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부가세/원천세 신고 지원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98950" y="1047750"/>
            <a:ext cx="40806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 분석 리포트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98950" y="1336625"/>
            <a:ext cx="4000649" cy="568226"/>
          </a:xfrm>
          <a:prstGeom prst="roundRect">
            <a:avLst>
              <a:gd name="adj" fmla="val 8940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88433" y="1463576"/>
            <a:ext cx="3821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손익계산서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88433" y="1654076"/>
            <a:ext cx="3821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월별/분기별 손익 분석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98950" y="2006352"/>
            <a:ext cx="4000649" cy="568226"/>
          </a:xfrm>
          <a:prstGeom prst="roundRect">
            <a:avLst>
              <a:gd name="adj" fmla="val 8940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88433" y="2133302"/>
            <a:ext cx="3821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재무상태표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88433" y="2323802"/>
            <a:ext cx="3821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자산/부채 현황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98950" y="2676079"/>
            <a:ext cx="4000649" cy="568226"/>
          </a:xfrm>
          <a:prstGeom prst="roundRect">
            <a:avLst>
              <a:gd name="adj" fmla="val 8940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88433" y="2803029"/>
            <a:ext cx="3821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현금흐름표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88433" y="2993529"/>
            <a:ext cx="3821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자금 운용 현황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98950" y="3345805"/>
            <a:ext cx="4000649" cy="568226"/>
          </a:xfrm>
          <a:prstGeom prst="roundRect">
            <a:avLst>
              <a:gd name="adj" fmla="val 8940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88433" y="3472755"/>
            <a:ext cx="3821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원가분석표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88433" y="3663255"/>
            <a:ext cx="38216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수익성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98950" y="4066431"/>
            <a:ext cx="4000649" cy="487561"/>
          </a:xfrm>
          <a:prstGeom prst="rect">
            <a:avLst/>
          </a:prstGeom>
          <a:solidFill>
            <a:srgbClr val="FCF3C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718000" y="4066431"/>
            <a:ext cx="0" cy="487561"/>
          </a:xfrm>
          <a:prstGeom prst="line">
            <a:avLst/>
          </a:prstGeom>
          <a:noFill/>
          <a:ln w="38100">
            <a:solidFill>
              <a:srgbClr val="F1C40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38551" y="4167932"/>
            <a:ext cx="3834738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 포인트: 영업 수주, 구매 발주, 프로젝트 비용이 자동으로 회계 전표에 반영되어 이중 입력 없이 실시간 재무 현황 파악 가능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42900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416" y="290513"/>
            <a:ext cx="195038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모듈 - 인사/급여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4401" y="1047750"/>
            <a:ext cx="2984599" cy="415826"/>
          </a:xfrm>
          <a:prstGeom prst="roundRect">
            <a:avLst>
              <a:gd name="adj" fmla="val 1221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6801" y="1174700"/>
            <a:ext cx="27333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인사관리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4401" y="1463576"/>
            <a:ext cx="2984599" cy="28726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424238" y="1463576"/>
            <a:ext cx="0" cy="287268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4401" y="4331494"/>
            <a:ext cx="298459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163" y="1463576"/>
            <a:ext cx="0" cy="287268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876" y="1704826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7798" y="1590526"/>
            <a:ext cx="1129427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사원 정보 및 인사 카드 관리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80876" y="2139702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7798" y="2025402"/>
            <a:ext cx="803047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조직도 및 부서 관리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0876" y="2574578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7798" y="2460278"/>
            <a:ext cx="116965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근태 관리 (출퇴근/휴가/연차)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80876" y="3009454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7798" y="2895154"/>
            <a:ext cx="92145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경력 및 자격 이력 관리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0876" y="3444329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7798" y="3330029"/>
            <a:ext cx="92145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성과 평가 및 목표 관리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80876" y="3879205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7798" y="3764905"/>
            <a:ext cx="803047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훈련 이력 관리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00450" y="1819275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 라이프사이클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19500" y="2098625"/>
            <a:ext cx="1905000" cy="2082701"/>
          </a:xfrm>
          <a:prstGeom prst="roundRect">
            <a:avLst>
              <a:gd name="adj" fmla="val 266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746450" y="222557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832473" y="2282726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076551" y="226843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채용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746450" y="253037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832473" y="2587526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076551" y="257323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46450" y="283517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832473" y="2892326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076551" y="287803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46450" y="313997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832473" y="3197126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076551" y="318283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보상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746450" y="344477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832473" y="3501926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76551" y="348763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육성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46450" y="3749576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832473" y="3806726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076551" y="379243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715000" y="1047750"/>
            <a:ext cx="2984599" cy="415826"/>
          </a:xfrm>
          <a:prstGeom prst="roundRect">
            <a:avLst>
              <a:gd name="adj" fmla="val 12217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867400" y="1174700"/>
            <a:ext cx="27333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급여관리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715000" y="1463576"/>
            <a:ext cx="2984599" cy="28726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8694837" y="1463576"/>
            <a:ext cx="0" cy="287268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15000" y="4331494"/>
            <a:ext cx="298459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19763" y="1463576"/>
            <a:ext cx="0" cy="287268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51475" y="1704826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88397" y="1590526"/>
            <a:ext cx="1011019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급여 항목 및 계산식 설정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851475" y="2139702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988397" y="2025402"/>
            <a:ext cx="684791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월급여 자동 계산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851475" y="2574578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988397" y="2460278"/>
            <a:ext cx="74232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4대보험 자동 산출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851475" y="3009454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988397" y="2895154"/>
            <a:ext cx="77435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소득세/지방세 계산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851475" y="3444329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988397" y="3330029"/>
            <a:ext cx="655948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급여명세서 발급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851475" y="3879205"/>
            <a:ext cx="619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988397" y="3764905"/>
            <a:ext cx="56638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연말정산 지원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42900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416" y="290513"/>
            <a:ext cx="107325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구축 방법론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1849" y="1047750"/>
            <a:ext cx="84203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기반 단계적 구축 방법론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4401" y="1362075"/>
            <a:ext cx="1569839" cy="469702"/>
          </a:xfrm>
          <a:prstGeom prst="roundRect">
            <a:avLst>
              <a:gd name="adj" fmla="val 10815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2233" y="1463576"/>
            <a:ext cx="13941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2233" y="1577876"/>
            <a:ext cx="13941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4401" y="1831777"/>
            <a:ext cx="1569839" cy="11014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009477" y="1831777"/>
            <a:ext cx="0" cy="1101477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401" y="2928491"/>
            <a:ext cx="156983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163" y="1831777"/>
            <a:ext cx="0" cy="1101477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5427" y="1933277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현행 업무 분석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55427" y="2088803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정의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55427" y="2244328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프로세스 설계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55427" y="2399854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표준화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115741" y="1362075"/>
            <a:ext cx="1569839" cy="469702"/>
          </a:xfrm>
          <a:prstGeom prst="roundRect">
            <a:avLst>
              <a:gd name="adj" fmla="val 10815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203573" y="1463576"/>
            <a:ext cx="13941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03573" y="1577876"/>
            <a:ext cx="13941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15741" y="1831777"/>
            <a:ext cx="1569839" cy="11014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680817" y="1831777"/>
            <a:ext cx="0" cy="1101477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15741" y="2928491"/>
            <a:ext cx="156983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20503" y="1831777"/>
            <a:ext cx="0" cy="1101477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26766" y="1933277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아키텍처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226766" y="2088803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화면/리포트 설계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226766" y="2244328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인터페이스 정의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226766" y="2399854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체계 수립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787080" y="1362075"/>
            <a:ext cx="1569839" cy="469702"/>
          </a:xfrm>
          <a:prstGeom prst="roundRect">
            <a:avLst>
              <a:gd name="adj" fmla="val 10815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874913" y="1463576"/>
            <a:ext cx="13941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874913" y="1577876"/>
            <a:ext cx="13941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87080" y="1831777"/>
            <a:ext cx="1569839" cy="11014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352157" y="1831777"/>
            <a:ext cx="0" cy="1101477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87080" y="2928491"/>
            <a:ext cx="156983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91843" y="1831777"/>
            <a:ext cx="0" cy="1101477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98106" y="1933277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모듈별 개발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898106" y="2088803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단위 테스트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898106" y="2244328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마이그레이션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898106" y="2399854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테스트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458420" y="1362075"/>
            <a:ext cx="1569839" cy="469702"/>
          </a:xfrm>
          <a:prstGeom prst="roundRect">
            <a:avLst>
              <a:gd name="adj" fmla="val 10815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546253" y="1463576"/>
            <a:ext cx="13941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546253" y="1577876"/>
            <a:ext cx="13941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58420" y="1831777"/>
            <a:ext cx="1569839" cy="11014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7023497" y="1831777"/>
            <a:ext cx="0" cy="1101477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58420" y="2928491"/>
            <a:ext cx="156983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63183" y="1831777"/>
            <a:ext cx="0" cy="1101477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69446" y="1933277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테스트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569446" y="2088803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 최적화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569446" y="2244328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점검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569446" y="2399854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교육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129760" y="1362075"/>
            <a:ext cx="1569839" cy="469702"/>
          </a:xfrm>
          <a:prstGeom prst="roundRect">
            <a:avLst>
              <a:gd name="adj" fmla="val 10815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217593" y="1463576"/>
            <a:ext cx="13941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217593" y="1577876"/>
            <a:ext cx="13941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안정화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129760" y="1831777"/>
            <a:ext cx="1569839" cy="11014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8694837" y="1831777"/>
            <a:ext cx="0" cy="1101477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129760" y="2928491"/>
            <a:ext cx="156983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34523" y="1831777"/>
            <a:ext cx="0" cy="1101477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40786" y="1933277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오픈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7240786" y="2088803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병행 운영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7240786" y="2244328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이슈 대응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7240786" y="2399854"/>
            <a:ext cx="1374743" cy="10477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이관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44401" y="3085654"/>
            <a:ext cx="8255198" cy="526852"/>
          </a:xfrm>
          <a:prstGeom prst="roundRect">
            <a:avLst>
              <a:gd name="adj" fmla="val 9642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1285693" y="3212604"/>
            <a:ext cx="7320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경영진 지원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285693" y="3380780"/>
            <a:ext cx="7320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Top-down 의사결정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3319342" y="3212604"/>
            <a:ext cx="7561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현업 참여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319342" y="3380780"/>
            <a:ext cx="7561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실사용자 피드백 반영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376891" y="3212604"/>
            <a:ext cx="7561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변화관리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376891" y="3380780"/>
            <a:ext cx="7561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및 커뮤니케이션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7437613" y="3212604"/>
            <a:ext cx="4173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품질관리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437613" y="3380780"/>
            <a:ext cx="417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검증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42900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416" y="290513"/>
            <a:ext cx="127500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일정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1849" y="1047750"/>
            <a:ext cx="84203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6개월 구축 일정 (예시)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4401" y="1590675"/>
            <a:ext cx="8255198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0643" y="1362075"/>
            <a:ext cx="14032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1개월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06409" y="1362075"/>
            <a:ext cx="14034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82326" y="1362075"/>
            <a:ext cx="14032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3개월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58092" y="1362075"/>
            <a:ext cx="14034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34008" y="1362075"/>
            <a:ext cx="14034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09924" y="1362075"/>
            <a:ext cx="14034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4401" y="1782663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211163" y="1727150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59980" y="1727150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8946" y="1727150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57763" y="1727150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06728" y="1727150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5545" y="1727150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06401" y="1752451"/>
            <a:ext cx="1248221" cy="203150"/>
          </a:xfrm>
          <a:prstGeom prst="roundRect">
            <a:avLst>
              <a:gd name="adj" fmla="val 18755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676698" y="1801564"/>
            <a:ext cx="3137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요구분석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44401" y="2138065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211163" y="2082552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59980" y="2082552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08946" y="2082552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57763" y="2082552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06728" y="2082552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55545" y="2082552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42976" y="2107853"/>
            <a:ext cx="1560761" cy="203150"/>
          </a:xfrm>
          <a:prstGeom prst="roundRect">
            <a:avLst>
              <a:gd name="adj" fmla="val 18755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718792" y="2156966"/>
            <a:ext cx="417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설계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44401" y="2493466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211163" y="2437954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59980" y="2437954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08946" y="2437954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57763" y="2437954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06728" y="2437954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55545" y="2437954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79700" y="2463254"/>
            <a:ext cx="2809875" cy="203150"/>
          </a:xfrm>
          <a:prstGeom prst="roundRect">
            <a:avLst>
              <a:gd name="adj" fmla="val 18755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318546" y="2512368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 개발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44401" y="2848868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211163" y="2793355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9980" y="2793355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08946" y="2793355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57763" y="2793355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06728" y="2793355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55545" y="2793355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64646" y="2818656"/>
            <a:ext cx="1560761" cy="203150"/>
          </a:xfrm>
          <a:prstGeom prst="roundRect">
            <a:avLst>
              <a:gd name="adj" fmla="val 18755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929610" y="2867769"/>
            <a:ext cx="2352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44401" y="3204270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안정화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211163" y="3148757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459980" y="3148757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08946" y="3148757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957763" y="3148757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06728" y="3148757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455545" y="3148757"/>
            <a:ext cx="0" cy="253901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13761" y="3174057"/>
            <a:ext cx="2185690" cy="203150"/>
          </a:xfrm>
          <a:prstGeom prst="roundRect">
            <a:avLst>
              <a:gd name="adj" fmla="val 18755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529661" y="3223171"/>
            <a:ext cx="156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444401" y="3555057"/>
            <a:ext cx="1549450" cy="647402"/>
          </a:xfrm>
          <a:prstGeom prst="roundRect">
            <a:avLst>
              <a:gd name="adj" fmla="val 784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444401" y="3564582"/>
            <a:ext cx="1549450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2437" y="3675608"/>
            <a:ext cx="13733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M+1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32437" y="3828008"/>
            <a:ext cx="13733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 보고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32437" y="3996184"/>
            <a:ext cx="137337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킥오프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120801" y="3555057"/>
            <a:ext cx="1549598" cy="647402"/>
          </a:xfrm>
          <a:prstGeom prst="roundRect">
            <a:avLst>
              <a:gd name="adj" fmla="val 784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2120801" y="3564582"/>
            <a:ext cx="1549598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08836" y="3675608"/>
            <a:ext cx="13735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M+2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2208836" y="3828008"/>
            <a:ext cx="13735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완료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2208836" y="3996184"/>
            <a:ext cx="137352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확정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3797350" y="3555057"/>
            <a:ext cx="1549450" cy="647402"/>
          </a:xfrm>
          <a:prstGeom prst="roundRect">
            <a:avLst>
              <a:gd name="adj" fmla="val 784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3797350" y="3564582"/>
            <a:ext cx="1549450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85386" y="3675608"/>
            <a:ext cx="13733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M+4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3885386" y="3828008"/>
            <a:ext cx="13733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완료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885386" y="3996184"/>
            <a:ext cx="137337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테스트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473750" y="3555057"/>
            <a:ext cx="1549450" cy="647402"/>
          </a:xfrm>
          <a:prstGeom prst="roundRect">
            <a:avLst>
              <a:gd name="adj" fmla="val 784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Shape 72"/>
          <p:cNvSpPr/>
          <p:nvPr/>
        </p:nvSpPr>
        <p:spPr>
          <a:xfrm>
            <a:off x="5473750" y="3564582"/>
            <a:ext cx="1549450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561786" y="3675608"/>
            <a:ext cx="13733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M+5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561786" y="3828008"/>
            <a:ext cx="13733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완료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561786" y="3996184"/>
            <a:ext cx="137337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승인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7150150" y="3555057"/>
            <a:ext cx="1549450" cy="647402"/>
          </a:xfrm>
          <a:prstGeom prst="roundRect">
            <a:avLst>
              <a:gd name="adj" fmla="val 784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Shape 77"/>
          <p:cNvSpPr/>
          <p:nvPr/>
        </p:nvSpPr>
        <p:spPr>
          <a:xfrm>
            <a:off x="7150150" y="3564582"/>
            <a:ext cx="1549450" cy="0"/>
          </a:xfrm>
          <a:prstGeom prst="line">
            <a:avLst/>
          </a:prstGeom>
          <a:noFill/>
          <a:ln w="19050">
            <a:solidFill>
              <a:srgbClr val="1C28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238186" y="3675608"/>
            <a:ext cx="13733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M+6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238186" y="3828008"/>
            <a:ext cx="13733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Open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7238186" y="3986659"/>
            <a:ext cx="137337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본격 운영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42900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416" y="290513"/>
            <a:ext cx="129337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비용 (안)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4401" y="1047750"/>
            <a:ext cx="4800749" cy="2468761"/>
          </a:xfrm>
          <a:prstGeom prst="roundRect">
            <a:avLst>
              <a:gd name="adj" fmla="val 205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4401" y="1047750"/>
            <a:ext cx="4800749" cy="3458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6801" y="1149251"/>
            <a:ext cx="20381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74986" y="1149251"/>
            <a:ext cx="10190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64076" y="1149251"/>
            <a:ext cx="15286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(백만원)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4401" y="1744266"/>
            <a:ext cx="480074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6801" y="1495127"/>
            <a:ext cx="20381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소프트웨어 개발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74986" y="1495127"/>
            <a:ext cx="10190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4076" y="1495127"/>
            <a:ext cx="15286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4401" y="2099667"/>
            <a:ext cx="480074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6801" y="1850529"/>
            <a:ext cx="20381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하드웨어/인프라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74986" y="1850529"/>
            <a:ext cx="10190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4076" y="1850529"/>
            <a:ext cx="15286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4401" y="2455069"/>
            <a:ext cx="480074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6801" y="2205930"/>
            <a:ext cx="20381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구축 컨설팅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74986" y="2205930"/>
            <a:ext cx="10190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64076" y="2205930"/>
            <a:ext cx="15286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4401" y="2810470"/>
            <a:ext cx="480074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6801" y="2561332"/>
            <a:ext cx="20381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교육/변화관리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74986" y="2561332"/>
            <a:ext cx="10190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4076" y="2561332"/>
            <a:ext cx="15286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4401" y="3165872"/>
            <a:ext cx="4800749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6801" y="2916734"/>
            <a:ext cx="20381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유지보수 (연간)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74986" y="2916734"/>
            <a:ext cx="10190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64076" y="2916734"/>
            <a:ext cx="15286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4401" y="3170634"/>
            <a:ext cx="4800749" cy="345877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96801" y="3272135"/>
            <a:ext cx="20381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투자 비용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74986" y="3272135"/>
            <a:ext cx="10190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64076" y="3272135"/>
            <a:ext cx="15286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4401" y="3618012"/>
            <a:ext cx="489676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7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상기 금액은 예시이며, 상세 견적은 요구사항 분석 후 확정됩니다.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467045" y="1047750"/>
            <a:ext cx="32645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비용 구성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99050" y="1327100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752951" y="1331863"/>
            <a:ext cx="26685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 개발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70702" y="1336625"/>
            <a:ext cx="233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99050" y="1555700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752951" y="1560463"/>
            <a:ext cx="26685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HW/인프라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70702" y="1565225"/>
            <a:ext cx="233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99050" y="1784300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752951" y="1789063"/>
            <a:ext cx="26685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컨설팅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470702" y="1793825"/>
            <a:ext cx="233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99050" y="2012900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752951" y="2017663"/>
            <a:ext cx="26685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470702" y="2022425"/>
            <a:ext cx="233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99050" y="2241500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752951" y="2246263"/>
            <a:ext cx="26685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유지보수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470702" y="2251025"/>
            <a:ext cx="233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99050" y="2584400"/>
            <a:ext cx="3200549" cy="749201"/>
          </a:xfrm>
          <a:prstGeom prst="roundRect">
            <a:avLst>
              <a:gd name="adj" fmla="val 6781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622493" y="2736800"/>
            <a:ext cx="29536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Investment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622493" y="2914501"/>
            <a:ext cx="29536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300M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4401" y="342900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416" y="290513"/>
            <a:ext cx="87166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효과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4401" y="1047750"/>
            <a:ext cx="1968550" cy="949226"/>
          </a:xfrm>
          <a:prstGeom prst="roundRect">
            <a:avLst>
              <a:gd name="adj" fmla="val 8028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0163" y="1200150"/>
            <a:ext cx="16970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80163" y="1533525"/>
            <a:ext cx="1697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효율 향상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0163" y="1739801"/>
            <a:ext cx="16970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업무 자동화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539901" y="1047750"/>
            <a:ext cx="1968698" cy="949226"/>
          </a:xfrm>
          <a:prstGeom prst="roundRect">
            <a:avLst>
              <a:gd name="adj" fmla="val 8028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75662" y="1200150"/>
            <a:ext cx="169717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75662" y="1533525"/>
            <a:ext cx="16971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보고서 작성 단축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75662" y="1739801"/>
            <a:ext cx="169717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리포트 생성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635550" y="1047750"/>
            <a:ext cx="1968550" cy="949226"/>
          </a:xfrm>
          <a:prstGeom prst="roundRect">
            <a:avLst>
              <a:gd name="adj" fmla="val 8028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71312" y="1200150"/>
            <a:ext cx="16970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71312" y="1533525"/>
            <a:ext cx="1697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 비용 절감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71312" y="1739801"/>
            <a:ext cx="16970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적정 재고 유지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731050" y="1047750"/>
            <a:ext cx="1968550" cy="949226"/>
          </a:xfrm>
          <a:prstGeom prst="roundRect">
            <a:avLst>
              <a:gd name="adj" fmla="val 8028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66812" y="1200150"/>
            <a:ext cx="16970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66812" y="1533525"/>
            <a:ext cx="1697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의사결정 속도 향상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66812" y="1739801"/>
            <a:ext cx="16970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대시보드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44401" y="2149376"/>
            <a:ext cx="4112996" cy="23485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정량적 효과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4401" y="2485727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16285" y="2530078"/>
            <a:ext cx="605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49052" y="2485727"/>
            <a:ext cx="3802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인건비 절감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9052" y="2653903"/>
            <a:ext cx="38022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업무 제거로 연간 인건비 15% 절감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44401" y="2862114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16285" y="2906464"/>
            <a:ext cx="605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49052" y="2862114"/>
            <a:ext cx="3802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매출 증가 기여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9052" y="3030289"/>
            <a:ext cx="38022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 기회 관리 강화로 수주율 10% 향상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44401" y="3238500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16285" y="3282851"/>
            <a:ext cx="605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49052" y="3238500"/>
            <a:ext cx="3802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비용 최적화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9052" y="3406676"/>
            <a:ext cx="38022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프로세스 효율화로 운영비 12% 절감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67250" y="2149376"/>
            <a:ext cx="4112996" cy="23485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정성적 효과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67250" y="2485727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39134" y="2530078"/>
            <a:ext cx="605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71901" y="2485727"/>
            <a:ext cx="3802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기반 경영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71901" y="2653903"/>
            <a:ext cx="38022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과학적 의사결정 체계 구축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67250" y="2862114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739134" y="2906464"/>
            <a:ext cx="605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971901" y="2862114"/>
            <a:ext cx="3802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표준화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71901" y="3030289"/>
            <a:ext cx="38022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 기반 프로세스 정립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667250" y="3238500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739134" y="3282851"/>
            <a:ext cx="605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971901" y="3238500"/>
            <a:ext cx="38022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신뢰도 제고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71901" y="3406676"/>
            <a:ext cx="38022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체계적 시스템으로 대외 신뢰성 강화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44401" y="3741837"/>
            <a:ext cx="8255198" cy="622102"/>
          </a:xfrm>
          <a:prstGeom prst="roundRect">
            <a:avLst>
              <a:gd name="adj" fmla="val 8166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98302" y="3890962"/>
            <a:ext cx="15991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투자 회수 기간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98302" y="4033837"/>
            <a:ext cx="15991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2.5년 내 투자비 회수 예상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201562" y="3868787"/>
            <a:ext cx="4637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150%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201562" y="4103638"/>
            <a:ext cx="4637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ROI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973555" y="3868787"/>
            <a:ext cx="47681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5년+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973555" y="4113163"/>
            <a:ext cx="4768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수명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85900" y="340370"/>
            <a:ext cx="4172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485900" y="895945"/>
            <a:ext cx="41722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4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선진인포텍 ERP 시스템 구축 제안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526804" y="1496020"/>
            <a:ext cx="4090392" cy="1056382"/>
          </a:xfrm>
          <a:prstGeom prst="roundRect">
            <a:avLst>
              <a:gd name="adj" fmla="val 7213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874520" y="1749921"/>
            <a:ext cx="339496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ERP 시스템</a:t>
            </a:r>
            <a:pPr algn="ctr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통해 선진인포텍의</a:t>
            </a:r>
            <a:endParaRPr lang="en-US" sz="1200" dirty="0"/>
          </a:p>
          <a:p>
            <a:pPr algn="ctr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업무 효율화와 데이터 기반 경영을 함께 실현하겠습니다.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7992" y="2933402"/>
            <a:ext cx="6995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37992" y="3127028"/>
            <a:ext cx="6995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구축팀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01520" y="2933402"/>
            <a:ext cx="10331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01520" y="3127028"/>
            <a:ext cx="10331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erp@sunjin.net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95640" y="2933402"/>
            <a:ext cx="101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연락처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95640" y="3127028"/>
            <a:ext cx="10132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02-XXXX-XXXX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17156" y="3606403"/>
            <a:ext cx="1309688" cy="818852"/>
          </a:xfrm>
          <a:prstGeom prst="roundRect">
            <a:avLst>
              <a:gd name="adj" fmla="val 31019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27859" y="3911054"/>
            <a:ext cx="6882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and 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85900" y="4679156"/>
            <a:ext cx="41722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선진인포텍(주)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선진인포텍(주)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선진인포텍 ERP 시스템 구축 제안서</dc:title>
  <dc:subject>PptxGenJS Presentation</dc:subject>
  <dc:creator>ERP 구축팀</dc:creator>
  <cp:lastModifiedBy>ERP 구축팀</cp:lastModifiedBy>
  <cp:revision>1</cp:revision>
  <dcterms:created xsi:type="dcterms:W3CDTF">2026-01-28T02:14:45Z</dcterms:created>
  <dcterms:modified xsi:type="dcterms:W3CDTF">2026-01-28T02:14:45Z</dcterms:modified>
</cp:coreProperties>
</file>