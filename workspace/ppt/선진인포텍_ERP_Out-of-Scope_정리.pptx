
<file path=[Content_Types].xml><?xml version="1.0" encoding="utf-8"?>
<Types xmlns="http://schemas.openxmlformats.org/package/2006/content-types">
  <Default Extension="xml" ContentType="application/xml"/>
  <Default Extension="fntdata" ContentType="application/x-fontdata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57248" y="1666875"/>
            <a:ext cx="402950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선진인포텍 ERP V1.0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557248" y="2327225"/>
            <a:ext cx="40295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2000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Out-of-Scope 항목 정리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57248" y="2885926"/>
            <a:ext cx="40295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구현 완료 및 Phase 2 로드맵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-91440" y="4591050"/>
            <a:ext cx="9326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1월 28일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571500"/>
            <a:ext cx="803168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개요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1215926"/>
            <a:ext cx="3746599" cy="412552"/>
          </a:xfrm>
          <a:prstGeom prst="roundRect">
            <a:avLst>
              <a:gd name="adj" fmla="val 12314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7301" y="1317427"/>
            <a:ext cx="35106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4901" y="1780877"/>
            <a:ext cx="3746599" cy="81409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7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구현 완료 항목 정리</a:t>
            </a:r>
            <a:endParaRPr lang="en-US" sz="1100" dirty="0"/>
          </a:p>
          <a:p>
            <a:pPr algn="l" marL="127000" indent="-127000">
              <a:lnSpc>
                <a:spcPts val="187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Out-of-Scope 항목 정리</a:t>
            </a:r>
            <a:endParaRPr lang="en-US" sz="1100" dirty="0"/>
          </a:p>
          <a:p>
            <a:pPr algn="l" marL="127000" indent="-127000">
              <a:lnSpc>
                <a:spcPts val="187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로드맵 수립 기초 자료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2785467"/>
            <a:ext cx="3746599" cy="875854"/>
          </a:xfrm>
          <a:prstGeom prst="roundRect">
            <a:avLst>
              <a:gd name="adj" fmla="val 8700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7301" y="2937867"/>
            <a:ext cx="351063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시스템: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선진인포텍 ERP V1.0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7301" y="3128218"/>
            <a:ext cx="351063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작성일: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2026-01-28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7301" y="3318570"/>
            <a:ext cx="351063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버전: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v1.0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62500" y="1215926"/>
            <a:ext cx="3746599" cy="412552"/>
          </a:xfrm>
          <a:prstGeom prst="roundRect">
            <a:avLst>
              <a:gd name="adj" fmla="val 12314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4900" y="1317427"/>
            <a:ext cx="35106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 (11개 모듈)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62500" y="1780877"/>
            <a:ext cx="3746599" cy="312033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7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레이아웃 설정</a:t>
            </a:r>
            <a:endParaRPr lang="en-US" sz="1100" dirty="0"/>
          </a:p>
          <a:p>
            <a:pPr algn="l" marL="127000" indent="-127000">
              <a:lnSpc>
                <a:spcPts val="187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및 일정관리</a:t>
            </a:r>
            <a:endParaRPr lang="en-US" sz="1100" dirty="0"/>
          </a:p>
          <a:p>
            <a:pPr algn="l" marL="127000" indent="-127000">
              <a:lnSpc>
                <a:spcPts val="187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검색</a:t>
            </a:r>
            <a:endParaRPr lang="en-US" sz="1100" dirty="0"/>
          </a:p>
          <a:p>
            <a:pPr algn="l" marL="127000" indent="-127000">
              <a:lnSpc>
                <a:spcPts val="187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기술지원 관리</a:t>
            </a:r>
            <a:endParaRPr lang="en-US" sz="1100" dirty="0"/>
          </a:p>
          <a:p>
            <a:pPr algn="l" marL="127000" indent="-127000">
              <a:lnSpc>
                <a:spcPts val="187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관리 (영업 파이프라인)</a:t>
            </a:r>
            <a:endParaRPr lang="en-US" sz="1100" dirty="0"/>
          </a:p>
          <a:p>
            <a:pPr algn="l" marL="127000" indent="-127000">
              <a:lnSpc>
                <a:spcPts val="187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장애 현황 관리</a:t>
            </a:r>
            <a:endParaRPr lang="en-US" sz="1100" dirty="0"/>
          </a:p>
          <a:p>
            <a:pPr algn="l" marL="127000" indent="-127000">
              <a:lnSpc>
                <a:spcPts val="187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 관리</a:t>
            </a:r>
            <a:endParaRPr lang="en-US" sz="1100" dirty="0"/>
          </a:p>
          <a:p>
            <a:pPr algn="l" marL="127000" indent="-127000">
              <a:lnSpc>
                <a:spcPts val="187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유지보수 고객 관리</a:t>
            </a:r>
            <a:endParaRPr lang="en-US" sz="1100" dirty="0"/>
          </a:p>
          <a:p>
            <a:pPr algn="l" marL="127000" indent="-127000">
              <a:lnSpc>
                <a:spcPts val="187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등록 및 조회 (CRM)</a:t>
            </a:r>
            <a:endParaRPr lang="en-US" sz="1100" dirty="0"/>
          </a:p>
          <a:p>
            <a:pPr algn="l" marL="127000" indent="-127000">
              <a:lnSpc>
                <a:spcPts val="187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 관리 (인사)</a:t>
            </a:r>
            <a:endParaRPr lang="en-US" sz="1100" dirty="0"/>
          </a:p>
          <a:p>
            <a:pPr algn="l" marL="127000" indent="-127000">
              <a:lnSpc>
                <a:spcPts val="187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공지사항 (게시판)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17450"/>
            <a:ext cx="748457" cy="314325"/>
          </a:xfrm>
          <a:prstGeom prst="roundRect">
            <a:avLst>
              <a:gd name="adj" fmla="val 16162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6801" y="393650"/>
            <a:ext cx="4525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5257" y="341263"/>
            <a:ext cx="30244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레이아웃 설정 (PRD 2001)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401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35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구현 완료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1200001"/>
            <a:ext cx="4000649" cy="1137345"/>
          </a:xfrm>
          <a:prstGeom prst="roundRect">
            <a:avLst>
              <a:gd name="adj" fmla="val 67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351" y="1326952"/>
            <a:ext cx="3746748" cy="84534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모듈 페이지: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11개 모듈 완료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시스템: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Sonner 토스트 구현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반응형: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Sheet 오버레이 사이드바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관리: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NextAuth.js JWT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98950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590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Out-of-Scope (Phase 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8950" y="1200001"/>
            <a:ext cx="4000649" cy="1799927"/>
          </a:xfrm>
          <a:prstGeom prst="roundRect">
            <a:avLst>
              <a:gd name="adj" fmla="val 423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901" y="1326952"/>
            <a:ext cx="3746748" cy="150792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다국어(i18n):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Phase 2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다크 모드 토글: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CSS 준비됨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폼 임시 저장: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Phase 2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Lighthouse CI: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안정화 후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키보드 네비게이션: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ARIA 강화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즐겨찾기 메뉴: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Phase 2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PWA 지원: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Phase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17450"/>
            <a:ext cx="766763" cy="314325"/>
          </a:xfrm>
          <a:prstGeom prst="roundRect">
            <a:avLst>
              <a:gd name="adj" fmla="val 16162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6801" y="393650"/>
            <a:ext cx="4712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63563" y="341263"/>
            <a:ext cx="31853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및 일정관리 (PRD 2011)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401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35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구현 완료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1200001"/>
            <a:ext cx="4000649" cy="1137345"/>
          </a:xfrm>
          <a:prstGeom prst="roundRect">
            <a:avLst>
              <a:gd name="adj" fmla="val 67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351" y="1326952"/>
            <a:ext cx="3746748" cy="84534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기술지원 CRUD: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API/UI 완전 구현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요약: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daily-summary API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캘린더: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team API 구현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캘린더 뷰: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월/주/일간 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98950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590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Out-of-Scope (Phase 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8950" y="1200001"/>
            <a:ext cx="4000649" cy="2020788"/>
          </a:xfrm>
          <a:prstGeom prst="roundRect">
            <a:avLst>
              <a:gd name="adj" fmla="val 3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901" y="1326952"/>
            <a:ext cx="3746748" cy="172878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드래그 앤 드롭: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@dnd-kit 필요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일정: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스키마 확장 필요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Push 알림: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FCM/Web Push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캘린더: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Google/Outlook 연동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주간/월간 통계: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집계 대시보드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시간대별 블록: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그리드 레이아웃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스와이프: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react-swipe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 지원: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Service Worker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17450"/>
            <a:ext cx="770334" cy="314325"/>
          </a:xfrm>
          <a:prstGeom prst="roundRect">
            <a:avLst>
              <a:gd name="adj" fmla="val 16162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6801" y="393650"/>
            <a:ext cx="4748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67135" y="341263"/>
            <a:ext cx="21565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검색 (PRD 2021)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401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35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구현 완료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1200001"/>
            <a:ext cx="4000649" cy="916484"/>
          </a:xfrm>
          <a:prstGeom prst="roundRect">
            <a:avLst>
              <a:gd name="adj" fmla="val 831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351" y="1326952"/>
            <a:ext cx="3746748" cy="62448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신규 등록: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TaskForm 완전 구현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삭제: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Soft Delete 구현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컬럼 정렬: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date/title/status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98950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590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Out-of-Scope (Phase 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8950" y="1200001"/>
            <a:ext cx="4000649" cy="1799927"/>
          </a:xfrm>
          <a:prstGeom prst="roundRect">
            <a:avLst>
              <a:gd name="adj" fmla="val 423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901" y="1326952"/>
            <a:ext cx="3746748" cy="150792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페이지 삭제: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TaskDetailDialog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기술지원 통합 조회: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통합 검색 API 필요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Excel 내보내기: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xlsx 미구현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CSV 내보내기: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기본 내보내기 없음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조건 저장: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DB 저장 미구현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대량 일괄 수정: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다중 선택 미구현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컬럼 정렬: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단일 정렬만 지원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17450"/>
            <a:ext cx="772864" cy="314325"/>
          </a:xfrm>
          <a:prstGeom prst="roundRect">
            <a:avLst>
              <a:gd name="adj" fmla="val 16162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6801" y="393650"/>
            <a:ext cx="4774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69665" y="341263"/>
            <a:ext cx="25667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기술지원 관리 (PRD 2031)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401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35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구현 완료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1200001"/>
            <a:ext cx="4000649" cy="916484"/>
          </a:xfrm>
          <a:prstGeom prst="roundRect">
            <a:avLst>
              <a:gd name="adj" fmla="val 831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351" y="1326952"/>
            <a:ext cx="3746748" cy="62448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Customer CRUD: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고객 관리 완전 구현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파일 첨부: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10MB, PDF/DOCX 등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전이 관리: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RECEIVED-COMPLETED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98950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590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Out-of-Scope (Phase 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8950" y="1200001"/>
            <a:ext cx="4000649" cy="2020788"/>
          </a:xfrm>
          <a:prstGeom prst="roundRect">
            <a:avLst>
              <a:gd name="adj" fmla="val 3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901" y="1326952"/>
            <a:ext cx="3746748" cy="172878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연동: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빈 배열 반환 중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대시보드: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리포팅 Phase 2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이메일/SMS 알림: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Phase 2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관리: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Phase 2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파일 첨부: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단일 파일만 지원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Task 자동 연동: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관계 미설정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MANAGER 부서 조회: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본인 건만 조회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피드백 요청: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Phase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17450"/>
            <a:ext cx="769590" cy="314325"/>
          </a:xfrm>
          <a:prstGeom prst="roundRect">
            <a:avLst>
              <a:gd name="adj" fmla="val 16162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6801" y="393650"/>
            <a:ext cx="4740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66391" y="355550"/>
            <a:ext cx="37671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관리 - 영업 파이프라인 (PRD 2041)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4401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35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구현 완료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1200001"/>
            <a:ext cx="4000649" cy="1799927"/>
          </a:xfrm>
          <a:prstGeom prst="roundRect">
            <a:avLst>
              <a:gd name="adj" fmla="val 423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351" y="1326952"/>
            <a:ext cx="3746748" cy="150792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CRUD: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생성/조회/수정/삭제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8단계 체크리스트: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MEETING-HANDOVER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고객사 연동: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FK, Combobox 검색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첨부파일: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카테고리별 분류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필터/검색/정렬: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복수 필터링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RBAC 권한: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ADMIN/MANAGER/USER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 배지: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상태별 카운트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98950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590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Out-of-Scope (Phase 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8950" y="1200001"/>
            <a:ext cx="4000649" cy="1799927"/>
          </a:xfrm>
          <a:prstGeom prst="roundRect">
            <a:avLst>
              <a:gd name="adj" fmla="val 423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901" y="1326952"/>
            <a:ext cx="3746748" cy="150792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하위 태스크 관리: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PROJECT_TASK 미구현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간트 차트 뷰: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 미구현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수익/비용 분석: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원가/이윤 필드 없음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복수 담당자: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단일 담당자만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알림/리마인더: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Phase 2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캘린더 연동: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Phase 2</a:t>
            </a:r>
            <a:endParaRPr lang="en-US" sz="900" dirty="0"/>
          </a:p>
          <a:p>
            <a:pPr algn="l" marL="101600" indent="-101600">
              <a:lnSpc>
                <a:spcPts val="1440"/>
              </a:lnSpc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확률(Win Rate):</a:t>
            </a:r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필드 미구현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17450"/>
            <a:ext cx="772418" cy="314325"/>
          </a:xfrm>
          <a:prstGeom prst="roundRect">
            <a:avLst>
              <a:gd name="adj" fmla="val 16162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6801" y="393650"/>
            <a:ext cx="4769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69219" y="341263"/>
            <a:ext cx="26137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장애 현황 관리 (PRD 2051)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401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35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구현 완료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1200001"/>
            <a:ext cx="4000649" cy="1853208"/>
          </a:xfrm>
          <a:prstGeom prst="roundRect">
            <a:avLst>
              <a:gd name="adj" fmla="val 411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351" y="1326952"/>
            <a:ext cx="3746748" cy="157400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장애 CRUD: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생성/조회/수정/삭제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관리: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INTAKE-COMPLETED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심각도 관리: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4단계 우선순위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고객사 연동: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FK, 필터링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할당: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권한별 제약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첨부파일 관리: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다중 파일, 10MB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이력: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상태/담당자 기록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 API: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상태별 카운트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RBAC 권한: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ADMIN/MANAGER/USER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98950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590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Out-of-Scope (Phase 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8950" y="1200001"/>
            <a:ext cx="4000649" cy="1675507"/>
          </a:xfrm>
          <a:prstGeom prst="roundRect">
            <a:avLst>
              <a:gd name="adj" fmla="val 45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901" y="1326952"/>
            <a:ext cx="3746748" cy="13963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알림: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WebSocket/SSE 필요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 발송: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nodemailer 미연동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차트: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Recharts 미구현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다국어 지원: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한글만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전용 UI: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반응형만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댓글/코멘트: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이력만 기록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 자동 계산: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RTO/RTR 미구현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Excel/PDF 리포트: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Phase 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17450"/>
            <a:ext cx="761405" cy="314325"/>
          </a:xfrm>
          <a:prstGeom prst="roundRect">
            <a:avLst>
              <a:gd name="adj" fmla="val 16162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6801" y="393650"/>
            <a:ext cx="465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58205" y="341263"/>
            <a:ext cx="21685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 관리 (PRD 2061)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401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35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구현 완료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1200001"/>
            <a:ext cx="4000649" cy="1675507"/>
          </a:xfrm>
          <a:prstGeom prst="roundRect">
            <a:avLst>
              <a:gd name="adj" fmla="val 45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351" y="1326952"/>
            <a:ext cx="3746748" cy="13963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 CRUD: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입고/조회/수정/삭제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관리: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재고-출고-폐기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 추적: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입고/출고/반납 기록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출고/반납 처리: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사용처, 반납 예정일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 변경: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이전/새 위치 이력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조회: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상태별 카운트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필터/검색/정렬: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카테고리, 상태, 위치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기반 제어: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ADMIN/MANAGER/USER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98950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590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Out-of-Scope (Phase 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8950" y="1200001"/>
            <a:ext cx="4000649" cy="1853208"/>
          </a:xfrm>
          <a:prstGeom prst="roundRect">
            <a:avLst>
              <a:gd name="adj" fmla="val 411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901" y="1326952"/>
            <a:ext cx="3746748" cy="157400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바코드/QR 스캔: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수동 입력만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알림: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과기 집계만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장비 예약 시스템: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Phase 2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워크플로우: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즉시 실행만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장비 모니터링: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Phase 2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ERP 연동: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Phase 2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감가상각 계산: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로직 없음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전문검색(FTS):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LIKE만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부서별 권한: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전사 접근만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17450"/>
            <a:ext cx="773757" cy="314325"/>
          </a:xfrm>
          <a:prstGeom prst="roundRect">
            <a:avLst>
              <a:gd name="adj" fmla="val 16162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6801" y="393650"/>
            <a:ext cx="4783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0558" y="341263"/>
            <a:ext cx="30019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유지보수 고객 관리 (PRD 2071)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401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35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구현 완료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1200001"/>
            <a:ext cx="4000649" cy="1675507"/>
          </a:xfrm>
          <a:prstGeom prst="roundRect">
            <a:avLst>
              <a:gd name="adj" fmla="val 45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351" y="1326952"/>
            <a:ext cx="3746748" cy="13963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유지보수 CRUD: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생성/조회/수정/삭제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상태 관리: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활성/종료/갱신예정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고객사 연동: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FK, 필터링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기간 관리: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시작일/종료일 이력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첨부파일 관리: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PDF/DOC, 10MB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이력 추적: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갱신/상태변경 기록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통계: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30/60일 만료 알림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기반 제어: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USER/MANAGER/ADMIN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98950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590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Out-of-Scope (Phase 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8950" y="1200001"/>
            <a:ext cx="4000649" cy="1853208"/>
          </a:xfrm>
          <a:prstGeom prst="roundRect">
            <a:avLst>
              <a:gd name="adj" fmla="val 411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901" y="1326952"/>
            <a:ext cx="3746748" cy="157400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상태 전이: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수동 변경만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계약 갱신: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수동 renewContract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인식: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회계 연동 없음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전자서명: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서명 필드 없음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대시보드: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기본 통계만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다국어 지원: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한글만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부서별 액세스: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역할만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버전 관리: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메타데이터만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대량 작업: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개별 처리만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17450"/>
            <a:ext cx="772418" cy="314325"/>
          </a:xfrm>
          <a:prstGeom prst="roundRect">
            <a:avLst>
              <a:gd name="adj" fmla="val 16162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6801" y="393650"/>
            <a:ext cx="4769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69219" y="341263"/>
            <a:ext cx="35994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등록 및 조회 - CRM (PRD 2081)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401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35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구현 완료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1200001"/>
            <a:ext cx="4000649" cy="1497806"/>
          </a:xfrm>
          <a:prstGeom prst="roundRect">
            <a:avLst>
              <a:gd name="adj" fmla="val 508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351" y="1326952"/>
            <a:ext cx="3746748" cy="12186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CRUD: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생성/조회/수정/삭제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분류: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4가지 분류 관리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관리: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다중 연락처, 주담당자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검색/필터링: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이름/코드, 분류/담당자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이력 추적: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변경 기록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기반 제어: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USER/MANAGER/ADMIN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의존성 검증: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삭제 전 참조 확인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98950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590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Out-of-Scope (Phase 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8950" y="1200001"/>
            <a:ext cx="4000649" cy="1853208"/>
          </a:xfrm>
          <a:prstGeom prst="roundRect">
            <a:avLst>
              <a:gd name="adj" fmla="val 411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901" y="1326952"/>
            <a:ext cx="3746748" cy="157400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 추적: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memo 필드만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 분야/매출: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추가 필드 미구현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고객사 로고: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Attachment 없음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분류별 동적 폼: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필드 변경 없음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기반 분류: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address만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대량 import/export: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CSV/Excel 없음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신용 등급 관리: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필드 없음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삭제 고객 복구: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Soft delete만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첨부: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첨부 기능 없음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17450"/>
            <a:ext cx="842070" cy="314325"/>
          </a:xfrm>
          <a:prstGeom prst="roundRect">
            <a:avLst>
              <a:gd name="adj" fmla="val 16162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6801" y="393650"/>
            <a:ext cx="5480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38870" y="341263"/>
            <a:ext cx="27748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 관리 - 인사 (PRD 2091)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401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35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구현 완료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1200001"/>
            <a:ext cx="4000649" cy="1675507"/>
          </a:xfrm>
          <a:prstGeom prst="roundRect">
            <a:avLst>
              <a:gd name="adj" fmla="val 45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351" y="1326952"/>
            <a:ext cx="3746748" cy="13963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 CRUD: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생성/조회/수정/삭제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 관리: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계층적 구조, Tree 시각화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직급/포지션: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CRUD, 레벨 설정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RBAC 권한: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ADMIN/MANAGER/USER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 관리: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생성/활성화/비활성화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검색/필터링: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이름/이메일, 부서/직급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NextAuth 연동: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JWT, 역할 라우팅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이력: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생성/수정/삭제 기록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98950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590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Out-of-Scope (Phase 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8950" y="1200001"/>
            <a:ext cx="4000649" cy="1853208"/>
          </a:xfrm>
          <a:prstGeom prst="roundRect">
            <a:avLst>
              <a:gd name="adj" fmla="val 411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901" y="1326952"/>
            <a:ext cx="3746748" cy="157400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조직도 시각화: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부서 트리만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 사진: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이미지 필드 없음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근무 시간 추적: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별도 모듈 필요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급여/연봉 관리: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급여 필드 없음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 Flag: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3단계 RBAC만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SSO (LDAP/AD):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로컬 계정만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대량 import/export: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CSV/Excel 없음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 이동 이력: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일반 UPDATE에 포함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암호 재설정 이메일: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임시 비밀번호만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17450"/>
            <a:ext cx="817959" cy="314325"/>
          </a:xfrm>
          <a:prstGeom prst="roundRect">
            <a:avLst>
              <a:gd name="adj" fmla="val 16162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6801" y="393650"/>
            <a:ext cx="5234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4760" y="341263"/>
            <a:ext cx="28876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공지사항 - 게시판 (PRD 2101)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401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35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구현 완료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1200001"/>
            <a:ext cx="4000649" cy="1675507"/>
          </a:xfrm>
          <a:prstGeom prst="roundRect">
            <a:avLst>
              <a:gd name="adj" fmla="val 45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351" y="1326952"/>
            <a:ext cx="3746748" cy="13963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공지사항 CRUD: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생성/조회/수정/삭제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게시물 유형: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공지/공유/지시/건의/자유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댓글 기능: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트리 구조, 2단계 깊이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첨부파일 관리: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매직 바이트, 10MB/5개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검색/필터링: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제목/내용, 유형/작성자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조회수 추적: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상세 조회 시 증가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Draft 자동 저장: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localStorage 30초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RBAC 권한: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MANAGER+(작성)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98950" y="784175"/>
            <a:ext cx="4000649" cy="314325"/>
          </a:xfrm>
          <a:prstGeom prst="roundRect">
            <a:avLst>
              <a:gd name="adj" fmla="val 16162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5901" y="860375"/>
            <a:ext cx="3821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Out-of-Scope (Phase 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8950" y="1200001"/>
            <a:ext cx="4000649" cy="1853208"/>
          </a:xfrm>
          <a:prstGeom prst="roundRect">
            <a:avLst>
              <a:gd name="adj" fmla="val 411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5901" y="1326952"/>
            <a:ext cx="3746748" cy="157400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좋아요/싫어요: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LIKE 테이블 없음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추가: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5가지 고정만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시스템: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알림 테이블 없음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대량 import/export: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CSV/Excel 없음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WYSIWYG 에디터: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Textarea만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댓글 좋아요: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COMMENT_LIKE 없음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게시물 핀 고정: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pinned_at 없음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태그 시스템: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TAG 테이블 없음</a:t>
            </a:r>
            <a:endParaRPr lang="en-US" sz="800" dirty="0"/>
          </a:p>
          <a:p>
            <a:pPr algn="l" marL="101600" indent="-1016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8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스토리지:</a:t>
            </a:r>
            <a:pPr algn="l" indent="0" marL="0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로컬 파일만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444401"/>
            <a:ext cx="842030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주요 개발 항목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44401" y="996851"/>
            <a:ext cx="2624733" cy="374452"/>
          </a:xfrm>
          <a:prstGeom prst="roundRect">
            <a:avLst>
              <a:gd name="adj" fmla="val 13566"/>
            </a:avLst>
          </a:prstGeom>
          <a:solidFill>
            <a:srgbClr val="D6EA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7643" y="1098352"/>
            <a:ext cx="24182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기능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4401" y="1498253"/>
            <a:ext cx="2624733" cy="1229023"/>
          </a:xfrm>
          <a:prstGeom prst="roundRect">
            <a:avLst>
              <a:gd name="adj" fmla="val 62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351" y="1625203"/>
            <a:ext cx="2370832" cy="93702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시스템 (전체 모듈)</a:t>
            </a:r>
            <a:endParaRPr lang="en-US" sz="900" dirty="0"/>
          </a:p>
          <a:p>
            <a:pPr algn="l" marL="101600" indent="-1016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다국어 지원 (i18n)</a:t>
            </a:r>
            <a:endParaRPr lang="en-US" sz="900" dirty="0"/>
          </a:p>
          <a:p>
            <a:pPr algn="l" marL="101600" indent="-1016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부서별 권한 스코핑</a:t>
            </a:r>
            <a:endParaRPr lang="en-US" sz="900" dirty="0"/>
          </a:p>
          <a:p>
            <a:pPr algn="l" marL="101600" indent="-1016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대량 import/export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59634" y="996851"/>
            <a:ext cx="2624733" cy="374452"/>
          </a:xfrm>
          <a:prstGeom prst="roundRect">
            <a:avLst>
              <a:gd name="adj" fmla="val 13566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62876" y="1098352"/>
            <a:ext cx="24182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연동 기능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59634" y="1498253"/>
            <a:ext cx="2624733" cy="1472803"/>
          </a:xfrm>
          <a:prstGeom prst="roundRect">
            <a:avLst>
              <a:gd name="adj" fmla="val 517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86584" y="1625203"/>
            <a:ext cx="2370832" cy="118080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캘린더 연동 (Google, Outlook)</a:t>
            </a:r>
            <a:endParaRPr lang="en-US" sz="900" dirty="0"/>
          </a:p>
          <a:p>
            <a:pPr algn="l" marL="101600" indent="-1016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이메일/SMS 알림</a:t>
            </a:r>
            <a:endParaRPr lang="en-US" sz="900" dirty="0"/>
          </a:p>
          <a:p>
            <a:pPr algn="l" marL="101600" indent="-1016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SSO (LDAP/AD)</a:t>
            </a:r>
            <a:endParaRPr lang="en-US" sz="900" dirty="0"/>
          </a:p>
          <a:p>
            <a:pPr algn="l" marL="101600" indent="-1016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ERP 연동</a:t>
            </a:r>
            <a:endParaRPr lang="en-US" sz="900" dirty="0"/>
          </a:p>
          <a:p>
            <a:pPr algn="l" marL="101600" indent="-1016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스토리지 (S3)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74866" y="996851"/>
            <a:ext cx="2624733" cy="374452"/>
          </a:xfrm>
          <a:prstGeom prst="roundRect">
            <a:avLst>
              <a:gd name="adj" fmla="val 13566"/>
            </a:avLst>
          </a:prstGeom>
          <a:solidFill>
            <a:srgbClr val="FCF3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78108" y="1098352"/>
            <a:ext cx="24182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7D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고급 기능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74866" y="1498253"/>
            <a:ext cx="2624733" cy="1472803"/>
          </a:xfrm>
          <a:prstGeom prst="roundRect">
            <a:avLst>
              <a:gd name="adj" fmla="val 517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01817" y="1625203"/>
            <a:ext cx="2370832" cy="118080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간트 차트 (프로젝트)</a:t>
            </a:r>
            <a:endParaRPr lang="en-US" sz="900" dirty="0"/>
          </a:p>
          <a:p>
            <a:pPr algn="l" marL="101600" indent="-1016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조직도 시각화 (직원)</a:t>
            </a:r>
            <a:endParaRPr lang="en-US" sz="900" dirty="0"/>
          </a:p>
          <a:p>
            <a:pPr algn="l" marL="101600" indent="-1016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통계/분석 대시보드</a:t>
            </a:r>
            <a:endParaRPr lang="en-US" sz="900" dirty="0"/>
          </a:p>
          <a:p>
            <a:pPr algn="l" marL="101600" indent="-1016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 자동 계산 (장애)</a:t>
            </a:r>
            <a:endParaRPr lang="en-US" sz="900" dirty="0"/>
          </a:p>
          <a:p>
            <a:pPr algn="l" marL="101600" indent="-1016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바코드/QR 스캔 (재고)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444401"/>
            <a:ext cx="842030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권장 우선순위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44401" y="1006376"/>
            <a:ext cx="2624733" cy="383977"/>
          </a:xfrm>
          <a:prstGeom prst="roundRect">
            <a:avLst>
              <a:gd name="adj" fmla="val 13230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7643" y="1107877"/>
            <a:ext cx="24182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High Priority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4401" y="1517303"/>
            <a:ext cx="2624733" cy="1759893"/>
          </a:xfrm>
          <a:prstGeom prst="roundRect">
            <a:avLst>
              <a:gd name="adj" fmla="val 433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6801" y="166970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4515" y="1669703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26902" y="1669703"/>
            <a:ext cx="678567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시스템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효율성 직결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6801" y="215473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4515" y="2154734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26902" y="2154734"/>
            <a:ext cx="955155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부서별 권한 스코핑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강화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6801" y="263976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4515" y="2639764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6902" y="2639764"/>
            <a:ext cx="915079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이메일/SMS 알림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대응 속도 향상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59634" y="1006376"/>
            <a:ext cx="2624733" cy="383977"/>
          </a:xfrm>
          <a:prstGeom prst="roundRect">
            <a:avLst>
              <a:gd name="adj" fmla="val 13230"/>
            </a:avLst>
          </a:prstGeom>
          <a:solidFill>
            <a:srgbClr val="FCF3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62876" y="1107877"/>
            <a:ext cx="24182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7D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Medium Priority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59634" y="1517303"/>
            <a:ext cx="2624733" cy="1759893"/>
          </a:xfrm>
          <a:prstGeom prst="roundRect">
            <a:avLst>
              <a:gd name="adj" fmla="val 433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12034" y="166970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09748" y="1669703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42134" y="1669703"/>
            <a:ext cx="843275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캘린더 연동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Google/Outlook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12034" y="215473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09748" y="2154734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2134" y="2154734"/>
            <a:ext cx="973372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통계/분석 대시보드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Recharts 시각화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12034" y="263976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09748" y="2639764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42134" y="2639764"/>
            <a:ext cx="1107415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대량 import/export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CSV/Excel 지원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74866" y="1006376"/>
            <a:ext cx="2624733" cy="383977"/>
          </a:xfrm>
          <a:prstGeom prst="roundRect">
            <a:avLst>
              <a:gd name="adj" fmla="val 13230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78108" y="1107877"/>
            <a:ext cx="24182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Low Priority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74866" y="1517303"/>
            <a:ext cx="2624733" cy="1759893"/>
          </a:xfrm>
          <a:prstGeom prst="roundRect">
            <a:avLst>
              <a:gd name="adj" fmla="val 433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27266" y="166970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24980" y="1669703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57367" y="1669703"/>
            <a:ext cx="662020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다국어 지원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i18n 프레임워크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27266" y="215473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24980" y="2154734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57367" y="2154734"/>
            <a:ext cx="1009805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WYSIWYG 에디터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TipTap/Slate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27266" y="263976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24980" y="2639764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57367" y="2639764"/>
            <a:ext cx="925401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스토리지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연동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71716" y="1041648"/>
            <a:ext cx="300042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071716" y="1708398"/>
            <a:ext cx="30004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1800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완료 및 Phase 2 로드맵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375571" y="2673548"/>
            <a:ext cx="2392710" cy="1428155"/>
          </a:xfrm>
          <a:prstGeom prst="roundRect">
            <a:avLst>
              <a:gd name="adj" fmla="val 711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69753" y="3028950"/>
            <a:ext cx="14043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버전:</a:t>
            </a:r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v1.0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69753" y="3301901"/>
            <a:ext cx="14043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작성자:</a:t>
            </a:r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Claude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69753" y="3574852"/>
            <a:ext cx="14043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BC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작성일:</a:t>
            </a:r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2026-01-28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-91440" y="4600575"/>
            <a:ext cx="93268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선진인포텍 ERP V1.0 - Out-of-Scope 항목 정리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선진인포텍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선진인포텍 ERP V1.0 - Out-of-Scope 항목 정리</dc:title>
  <dc:subject>Phase 1 구현 완료 및 Phase 2 로드맵</dc:subject>
  <dc:creator>Claude Code</dc:creator>
  <cp:lastModifiedBy>Claude Code</cp:lastModifiedBy>
  <cp:revision>1</cp:revision>
  <dcterms:created xsi:type="dcterms:W3CDTF">2026-01-28T05:31:19Z</dcterms:created>
  <dcterms:modified xsi:type="dcterms:W3CDTF">2026-01-28T05:31:19Z</dcterms:modified>
</cp:coreProperties>
</file>