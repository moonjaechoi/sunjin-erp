
<file path=[Content_Types].xml><?xml version="1.0" encoding="utf-8"?>
<ct:Types xmlns:ct="http://schemas.openxmlformats.org/package/2006/content-types">
  <ct:Default Extension="xml" ContentType="application/xml"/>
  <ct:Default Extension="rels" ContentType="application/vnd.openxmlformats-package.relationships+xml"/>
  <ct:Default Extension="jpeg" ContentType="image/jpeg"/>
  <ct:Default Extension="jpg" ContentType="image/jpg"/>
  <ct:Default Extension="svg" ContentType="image/svg+xml"/>
  <ct:Default Extension="png" ContentType="image/png"/>
  <ct:Default Extension="gif" ContentType="image/gif"/>
  <ct:Default Extension="m4v" ContentType="video/mp4"/>
  <ct:Default Extension="mp4" ContentType="video/mp4"/>
  <ct:Default Extension="vml" ContentType="application/vnd.openxmlformats-officedocument.vmlDrawing"/>
  <ct:Default Extension="xlsx" ContentType="application/vnd.openxmlformats-officedocument.spreadsheetml.sheet"/>
  <ct:Override PartName="/ppt/presentation.xml" ContentType="application/vnd.openxmlformats-officedocument.presentationml.presentation.main+xml"/>
  <ct:Override PartName="/ppt/notesMasters/notesMaster1.xml" ContentType="application/vnd.openxmlformats-officedocument.presentationml.notesMaster+xml"/>
  <ct:Override PartName="/ppt/slideMasters/slideMaster1.xml" ContentType="application/vnd.openxmlformats-officedocument.presentationml.slideMaster+xml"/>
  <ct:Override PartName="/ppt/slides/slide1.xml" ContentType="application/vnd.openxmlformats-officedocument.presentationml.slide+xml"/>
  <ct:Override PartName="/ppt/slideMasters/slideMaster2.xml" ContentType="application/vnd.openxmlformats-officedocument.presentationml.slideMaster+xml"/>
  <ct:Override PartName="/ppt/slides/slide2.xml" ContentType="application/vnd.openxmlformats-officedocument.presentationml.slide+xml"/>
  <ct:Override PartName="/ppt/slideMasters/slideMaster3.xml" ContentType="application/vnd.openxmlformats-officedocument.presentationml.slideMaster+xml"/>
  <ct:Override PartName="/ppt/slides/slide3.xml" ContentType="application/vnd.openxmlformats-officedocument.presentationml.slide+xml"/>
  <ct:Override PartName="/ppt/slideMasters/slideMaster4.xml" ContentType="application/vnd.openxmlformats-officedocument.presentationml.slideMaster+xml"/>
  <ct:Override PartName="/ppt/slides/slide4.xml" ContentType="application/vnd.openxmlformats-officedocument.presentationml.slide+xml"/>
  <ct:Override PartName="/ppt/slideMasters/slideMaster5.xml" ContentType="application/vnd.openxmlformats-officedocument.presentationml.slideMaster+xml"/>
  <ct:Override PartName="/ppt/slides/slide5.xml" ContentType="application/vnd.openxmlformats-officedocument.presentationml.slide+xml"/>
  <ct:Override PartName="/ppt/slideMasters/slideMaster6.xml" ContentType="application/vnd.openxmlformats-officedocument.presentationml.slideMaster+xml"/>
  <ct:Override PartName="/ppt/slides/slide6.xml" ContentType="application/vnd.openxmlformats-officedocument.presentationml.slide+xml"/>
  <ct:Override PartName="/ppt/slideMasters/slideMaster7.xml" ContentType="application/vnd.openxmlformats-officedocument.presentationml.slideMaster+xml"/>
  <ct:Override PartName="/ppt/slides/slide7.xml" ContentType="application/vnd.openxmlformats-officedocument.presentationml.slide+xml"/>
  <ct:Override PartName="/ppt/slideMasters/slideMaster8.xml" ContentType="application/vnd.openxmlformats-officedocument.presentationml.slideMaster+xml"/>
  <ct:Override PartName="/ppt/slides/slide8.xml" ContentType="application/vnd.openxmlformats-officedocument.presentationml.slide+xml"/>
  <ct:Override PartName="/ppt/slideMasters/slideMaster9.xml" ContentType="application/vnd.openxmlformats-officedocument.presentationml.slideMaster+xml"/>
  <ct:Override PartName="/ppt/slides/slide9.xml" ContentType="application/vnd.openxmlformats-officedocument.presentationml.slide+xml"/>
  <ct:Override PartName="/ppt/slideMasters/slideMaster10.xml" ContentType="application/vnd.openxmlformats-officedocument.presentationml.slideMaster+xml"/>
  <ct:Override PartName="/ppt/slides/slide10.xml" ContentType="application/vnd.openxmlformats-officedocument.presentationml.slide+xml"/>
  <ct:Override PartName="/ppt/slideMasters/slideMaster11.xml" ContentType="application/vnd.openxmlformats-officedocument.presentationml.slideMaster+xml"/>
  <ct:Override PartName="/ppt/slides/slide11.xml" ContentType="application/vnd.openxmlformats-officedocument.presentationml.slide+xml"/>
  <ct:Override PartName="/ppt/slideMasters/slideMaster12.xml" ContentType="application/vnd.openxmlformats-officedocument.presentationml.slideMaster+xml"/>
  <ct:Override PartName="/ppt/slides/slide12.xml" ContentType="application/vnd.openxmlformats-officedocument.presentationml.slide+xml"/>
  <ct:Override PartName="/ppt/slideMasters/slideMaster13.xml" ContentType="application/vnd.openxmlformats-officedocument.presentationml.slideMaster+xml"/>
  <ct:Override PartName="/ppt/slides/slide13.xml" ContentType="application/vnd.openxmlformats-officedocument.presentationml.slide+xml"/>
  <ct:Override PartName="/ppt/slideMasters/slideMaster14.xml" ContentType="application/vnd.openxmlformats-officedocument.presentationml.slideMaster+xml"/>
  <ct:Override PartName="/ppt/slides/slide14.xml" ContentType="application/vnd.openxmlformats-officedocument.presentationml.slide+xml"/>
  <ct:Override PartName="/ppt/slideMasters/slideMaster15.xml" ContentType="application/vnd.openxmlformats-officedocument.presentationml.slideMaster+xml"/>
  <ct:Override PartName="/ppt/slides/slide15.xml" ContentType="application/vnd.openxmlformats-officedocument.presentationml.slide+xml"/>
  <ct:Override PartName="/ppt/slideMasters/slideMaster16.xml" ContentType="application/vnd.openxmlformats-officedocument.presentationml.slideMaster+xml"/>
  <ct:Override PartName="/ppt/slides/slide16.xml" ContentType="application/vnd.openxmlformats-officedocument.presentationml.slide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notesSlides/notesSlide1.xml" ContentType="application/vnd.openxmlformats-officedocument.presentationml.notesSlide+xml"/>
  <ct:Override PartName="/ppt/notesSlides/notesSlide2.xml" ContentType="application/vnd.openxmlformats-officedocument.presentationml.notesSlide+xml"/>
  <ct:Override PartName="/ppt/notesSlides/notesSlide3.xml" ContentType="application/vnd.openxmlformats-officedocument.presentationml.notesSlide+xml"/>
  <ct:Override PartName="/ppt/notesSlides/notesSlide4.xml" ContentType="application/vnd.openxmlformats-officedocument.presentationml.notesSlide+xml"/>
  <ct:Override PartName="/ppt/notesSlides/notesSlide5.xml" ContentType="application/vnd.openxmlformats-officedocument.presentationml.notesSlide+xml"/>
  <ct:Override PartName="/ppt/notesSlides/notesSlide6.xml" ContentType="application/vnd.openxmlformats-officedocument.presentationml.notesSlide+xml"/>
  <ct:Override PartName="/ppt/notesSlides/notesSlide7.xml" ContentType="application/vnd.openxmlformats-officedocument.presentationml.notesSlide+xml"/>
  <ct:Override PartName="/ppt/notesSlides/notesSlide8.xml" ContentType="application/vnd.openxmlformats-officedocument.presentationml.notesSlide+xml"/>
  <ct:Override PartName="/ppt/notesSlides/notesSlide9.xml" ContentType="application/vnd.openxmlformats-officedocument.presentationml.notesSlide+xml"/>
  <ct:Override PartName="/ppt/notesSlides/notesSlide10.xml" ContentType="application/vnd.openxmlformats-officedocument.presentationml.notesSlide+xml"/>
  <ct:Override PartName="/ppt/notesSlides/notesSlide11.xml" ContentType="application/vnd.openxmlformats-officedocument.presentationml.notesSlide+xml"/>
  <ct:Override PartName="/ppt/notesSlides/notesSlide12.xml" ContentType="application/vnd.openxmlformats-officedocument.presentationml.notesSlide+xml"/>
  <ct:Override PartName="/ppt/notesSlides/notesSlide13.xml" ContentType="application/vnd.openxmlformats-officedocument.presentationml.notesSlide+xml"/>
  <ct:Override PartName="/ppt/notesSlides/notesSlide14.xml" ContentType="application/vnd.openxmlformats-officedocument.presentationml.notesSlide+xml"/>
  <ct:Override PartName="/ppt/notesSlides/notesSlide15.xml" ContentType="application/vnd.openxmlformats-officedocument.presentationml.notesSlide+xml"/>
  <ct:Override PartName="/ppt/notesSlides/notesSlide16.xml" ContentType="application/vnd.openxmlformats-officedocument.presentationml.notesSlide+xml"/>
  <ct:Override PartName="/docProps/core.xml" ContentType="application/vnd.openxmlformats-package.core-properties+xml"/>
  <ct:Override PartName="/docProps/app.xml" ContentType="application/vnd.openxmlformats-officedocument.extended-properties+xml"/>
  <ct:Default Extension="fntdata" ContentType="application/x-fontdata"/>
</ct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embeddedFontLst/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12" Type="http://schemas.openxmlformats.org/officeDocument/2006/relationships/slide" Target="slides/slide11.xml" /><ns0:Relationship Id="rId13" Type="http://schemas.openxmlformats.org/officeDocument/2006/relationships/slide" Target="slides/slide12.xml" /><ns0:Relationship Id="rId14" Type="http://schemas.openxmlformats.org/officeDocument/2006/relationships/slide" Target="slides/slide13.xml" /><ns0:Relationship Id="rId15" Type="http://schemas.openxmlformats.org/officeDocument/2006/relationships/slide" Target="slides/slide14.xml" /><ns0:Relationship Id="rId16" Type="http://schemas.openxmlformats.org/officeDocument/2006/relationships/slide" Target="slides/slide15.xml" /><ns0:Relationship Id="rId17" Type="http://schemas.openxmlformats.org/officeDocument/2006/relationships/slide" Target="slides/slide16.xml" /><ns0:Relationship Id="rId18" Type="http://schemas.openxmlformats.org/officeDocument/2006/relationships/notesMaster" Target="notesMasters/notesMaster1.xml" /><ns0:Relationship Id="rId19" Type="http://schemas.openxmlformats.org/officeDocument/2006/relationships/presProps" Target="presProps.xml" /><ns0:Relationship Id="rId20" Type="http://schemas.openxmlformats.org/officeDocument/2006/relationships/viewProps" Target="viewProps.xml" /><ns0:Relationship Id="rId21" Type="http://schemas.openxmlformats.org/officeDocument/2006/relationships/theme" Target="theme/theme1.xml" /><ns0:Relationship Id="rId22" Type="http://schemas.openxmlformats.org/officeDocument/2006/relationships/tableStyles" Target="tableStyles.xml" /></ns0: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2826" y="1436638"/>
            <a:ext cx="43781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SUNJIN INFOTECH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382826" y="1836688"/>
            <a:ext cx="43781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ERP 시스템 구축 제안서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382826" y="2497038"/>
            <a:ext cx="43781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경영 정보 시스템 도입을 통한 업무 혁신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901" y="3116163"/>
            <a:ext cx="1015901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82826" y="3535263"/>
            <a:ext cx="4378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1월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74802" cy="51435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964085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1200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17450" y="2630835"/>
            <a:ext cx="259069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19202" y="722561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53743" y="795635"/>
            <a:ext cx="880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65253" y="760661"/>
            <a:ext cx="24080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현황 분석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65253" y="1020961"/>
            <a:ext cx="24080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선진인포텍 비즈니스 환경 및 요구사항 분석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9202" y="1462236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42134" y="1535311"/>
            <a:ext cx="111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65253" y="1500336"/>
            <a:ext cx="17539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ERP 도입 필요성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5253" y="1760637"/>
            <a:ext cx="17539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경영 시스템의 전략적 가치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9202" y="2201912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39753" y="2274987"/>
            <a:ext cx="1165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5253" y="2240012"/>
            <a:ext cx="1545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구성 및 기능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65253" y="2500313"/>
            <a:ext cx="15456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모듈 및 주요 기능 소개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9202" y="2941588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38265" y="3014663"/>
            <a:ext cx="1197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65253" y="2979688"/>
            <a:ext cx="13843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 방법론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65253" y="3239988"/>
            <a:ext cx="13843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추진 전략 및 일정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9202" y="3681264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40348" y="3754338"/>
            <a:ext cx="1155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65253" y="3719364"/>
            <a:ext cx="15362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비용 및 기대효과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5253" y="3979664"/>
            <a:ext cx="15362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분석 및 정량적 효과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54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6946" y="295275"/>
            <a:ext cx="19212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선진인포텍 현황 분석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57275"/>
            <a:ext cx="4000649" cy="80873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3451" y="1057275"/>
            <a:ext cx="0" cy="808732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51" y="1184225"/>
            <a:ext cx="37828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개요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419076"/>
            <a:ext cx="37828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네트워크, 영상 분야 토탈 솔루션 제공 IT 전문기업으로 물리보안, AI 분석, 네트워크 방송 시스템 등 다양한 솔루션 사업 영위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4401" y="1992957"/>
            <a:ext cx="4000649" cy="80873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3451" y="1992957"/>
            <a:ext cx="0" cy="808732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451" y="2119908"/>
            <a:ext cx="37828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사업 분야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451" y="2354759"/>
            <a:ext cx="37828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영상/물리보안 시스템, 스마트선별관제, AI 리테일 분석, KVM/A/V 솔루션, 네트워크 데이터 보안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4401" y="2928640"/>
            <a:ext cx="4000649" cy="80873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451" y="2928640"/>
            <a:ext cx="0" cy="808732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451" y="3055590"/>
            <a:ext cx="37828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가치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451" y="3290441"/>
            <a:ext cx="37828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전문성, 신뢰성, 개방성, 자율성, 상호존중을 바탕으로 고객과 파트너사에 최선의 서비스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98950" y="1057275"/>
            <a:ext cx="40806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구성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8950" y="1355675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1431875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901" y="1609576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관리팀, 무역팀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98950" y="1873002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5901" y="1949202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 사업부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5901" y="2126903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1팀, 영업 2팀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98950" y="2390329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5901" y="2466529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기술부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5901" y="2644229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1팀, 기술 2팀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98950" y="2907655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5901" y="2983855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 사업부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5901" y="3161556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1팀, 영업 2팀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98950" y="3424982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25901" y="3501182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기업부설 연구소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25901" y="3678882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1팀, 연구 2팀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98950" y="3942308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25901" y="4018508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컨설팅 사업부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25901" y="4196209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1팀, 사업 2팀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54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6946" y="295275"/>
            <a:ext cx="197497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업무 환경의 과제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57275"/>
            <a:ext cx="8420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사업부 운영에 따른 업무 비효율 발생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4401" y="1428750"/>
            <a:ext cx="1920925" cy="1256407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44401" y="1447800"/>
            <a:ext cx="1920925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1619250"/>
            <a:ext cx="164844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6801" y="1996976"/>
            <a:ext cx="1648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분산 관리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6801" y="2212777"/>
            <a:ext cx="16484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부서별 개별 시스템 운영으로 데이터 일관성 부족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55825" y="1428750"/>
            <a:ext cx="1920925" cy="1256407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55825" y="1447800"/>
            <a:ext cx="1920925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8225" y="1619250"/>
            <a:ext cx="164844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08225" y="1996976"/>
            <a:ext cx="1648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프로세스 단절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08225" y="2212777"/>
            <a:ext cx="16484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영업-기술-경영지원 간 정보 흐름 지연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7250" y="1428750"/>
            <a:ext cx="1920925" cy="1256407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1447800"/>
            <a:ext cx="1920925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9650" y="1619250"/>
            <a:ext cx="164844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19650" y="1996976"/>
            <a:ext cx="1648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수작업 의존도 높음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9650" y="2212777"/>
            <a:ext cx="16484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Excel 기반 업무로 인한 데이터 오류 발생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78675" y="1428750"/>
            <a:ext cx="1920925" cy="1256407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778675" y="1447800"/>
            <a:ext cx="1920925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075" y="1619250"/>
            <a:ext cx="164844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31075" y="1996976"/>
            <a:ext cx="1648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현황 파악 한계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31075" y="2212777"/>
            <a:ext cx="16484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프로젝트, 재고, 매출 현황 모니터링 불가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1849" y="3002607"/>
            <a:ext cx="842030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4401" y="3367683"/>
            <a:ext cx="8255198" cy="434876"/>
          </a:xfrm>
          <a:prstGeom prst="roundRect">
            <a:avLst>
              <a:gd name="adj" fmla="val 1752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338" y="3494633"/>
            <a:ext cx="81613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ERP 시스템 도입을 통한 업무 혁신 필요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406301"/>
            <a:ext cx="2003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1354" y="339626"/>
            <a:ext cx="17143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ERP 도입 필요성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44401" y="1301502"/>
            <a:ext cx="2667298" cy="837456"/>
          </a:xfrm>
          <a:prstGeom prst="roundRect">
            <a:avLst>
              <a:gd name="adj" fmla="val 909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45390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796" y="1520577"/>
            <a:ext cx="76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2101" y="1453902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표준화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2101" y="1666577"/>
            <a:ext cx="18656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전사 업무 프로세스 표준화로 일관된 업무 수행 및 품질 향상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4401" y="2291358"/>
            <a:ext cx="2667298" cy="837456"/>
          </a:xfrm>
          <a:prstGeom prst="roundRect">
            <a:avLst>
              <a:gd name="adj" fmla="val 909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901" y="244375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9676" y="2510433"/>
            <a:ext cx="970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2101" y="2443758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정보 공유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2101" y="2656433"/>
            <a:ext cx="18656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 간 데이터 실시간 연동으로 신속한 의사결정 지원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4401" y="3281214"/>
            <a:ext cx="2667298" cy="837456"/>
          </a:xfrm>
          <a:prstGeom prst="roundRect">
            <a:avLst>
              <a:gd name="adj" fmla="val 909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3433614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7741" y="3500289"/>
            <a:ext cx="100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2101" y="3433614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효율성 향상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2101" y="3646289"/>
            <a:ext cx="18656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 자동화로 핵심 업무 집중도 향상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149" y="1301502"/>
            <a:ext cx="2285702" cy="3524548"/>
          </a:xfrm>
          <a:prstGeom prst="roundRect">
            <a:avLst>
              <a:gd name="adj" fmla="val 444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76661" y="2667000"/>
            <a:ext cx="9906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INTEGRATED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54160" y="2930426"/>
            <a:ext cx="4356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53212" y="3197126"/>
            <a:ext cx="6374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2302" y="1301502"/>
            <a:ext cx="2667298" cy="837456"/>
          </a:xfrm>
          <a:prstGeom prst="roundRect">
            <a:avLst>
              <a:gd name="adj" fmla="val 909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22802" y="145390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24302" y="1520577"/>
            <a:ext cx="1038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80002" y="1453902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기반 경영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80002" y="1666577"/>
            <a:ext cx="18656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데이터 분석으로 과학적 경영 의사결정 가능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2302" y="2291358"/>
            <a:ext cx="2667298" cy="677466"/>
          </a:xfrm>
          <a:prstGeom prst="roundRect">
            <a:avLst>
              <a:gd name="adj" fmla="val 112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22802" y="244375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26088" y="2510433"/>
            <a:ext cx="100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80002" y="2443758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80002" y="2656433"/>
            <a:ext cx="18656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업무 제거 및 운영 비용 최적화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2302" y="3121223"/>
            <a:ext cx="2667298" cy="677466"/>
          </a:xfrm>
          <a:prstGeom prst="roundRect">
            <a:avLst>
              <a:gd name="adj" fmla="val 112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22802" y="3273623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24600" y="3340298"/>
            <a:ext cx="1032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80002" y="3273623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기반 구축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80002" y="3486299"/>
            <a:ext cx="18656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가능한 시스템으로 사업 성장 지원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35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406301"/>
            <a:ext cx="201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2842" y="349151"/>
            <a:ext cx="168639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구성 개요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1849" y="1247477"/>
            <a:ext cx="84203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선진인포텍 맞춤형 ERP 시스템 아키텍처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401" y="1638002"/>
            <a:ext cx="1218902" cy="609302"/>
          </a:xfrm>
          <a:prstGeom prst="roundRect">
            <a:avLst>
              <a:gd name="adj" fmla="val 833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9248" y="1866454"/>
            <a:ext cx="335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64804" y="1638002"/>
            <a:ext cx="2243882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81570" y="1774478"/>
            <a:ext cx="2010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브라우저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81570" y="1977628"/>
            <a:ext cx="2010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PC/노트북 접속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0186" y="1638002"/>
            <a:ext cx="2244030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26951" y="1774478"/>
            <a:ext cx="2010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26951" y="1977628"/>
            <a:ext cx="2010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스마트폰/태블릿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55718" y="1638002"/>
            <a:ext cx="2243882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72484" y="1774478"/>
            <a:ext cx="2010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72484" y="1977628"/>
            <a:ext cx="2010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경영진 현황판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4401" y="2374255"/>
            <a:ext cx="1218902" cy="609302"/>
          </a:xfrm>
          <a:prstGeom prst="roundRect">
            <a:avLst>
              <a:gd name="adj" fmla="val 833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9745" y="2602706"/>
            <a:ext cx="477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모듈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64804" y="2374255"/>
            <a:ext cx="1305669" cy="609302"/>
          </a:xfrm>
          <a:prstGeom prst="roundRect">
            <a:avLst>
              <a:gd name="adj" fmla="val 8337"/>
            </a:avLst>
          </a:prstGeom>
          <a:solidFill>
            <a:srgbClr val="3498DB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90952" y="2510730"/>
            <a:ext cx="1053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영업관리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90952" y="2713881"/>
            <a:ext cx="10533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견적/수주/고객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71974" y="2374255"/>
            <a:ext cx="1305818" cy="609302"/>
          </a:xfrm>
          <a:prstGeom prst="roundRect">
            <a:avLst>
              <a:gd name="adj" fmla="val 8337"/>
            </a:avLst>
          </a:prstGeom>
          <a:solidFill>
            <a:srgbClr val="3498DB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98121" y="2510730"/>
            <a:ext cx="105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프로젝트관리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8121" y="2713881"/>
            <a:ext cx="10535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일정/인력/진척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9293" y="2374255"/>
            <a:ext cx="1305669" cy="609302"/>
          </a:xfrm>
          <a:prstGeom prst="roundRect">
            <a:avLst>
              <a:gd name="adj" fmla="val 8337"/>
            </a:avLst>
          </a:prstGeom>
          <a:solidFill>
            <a:srgbClr val="3498DB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05441" y="2510730"/>
            <a:ext cx="1053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재고/구매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5441" y="2713881"/>
            <a:ext cx="10533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자재/발주/입출고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6463" y="2374255"/>
            <a:ext cx="1305818" cy="609302"/>
          </a:xfrm>
          <a:prstGeom prst="roundRect">
            <a:avLst>
              <a:gd name="adj" fmla="val 8337"/>
            </a:avLst>
          </a:prstGeom>
          <a:solidFill>
            <a:srgbClr val="3498DB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12609" y="2510730"/>
            <a:ext cx="105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회계/재무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12609" y="2713881"/>
            <a:ext cx="10535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전표/결산/원가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93781" y="2374255"/>
            <a:ext cx="1305818" cy="609302"/>
          </a:xfrm>
          <a:prstGeom prst="roundRect">
            <a:avLst>
              <a:gd name="adj" fmla="val 8337"/>
            </a:avLst>
          </a:prstGeom>
          <a:solidFill>
            <a:srgbClr val="3498DB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519928" y="2510730"/>
            <a:ext cx="105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인사/급여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19928" y="2713881"/>
            <a:ext cx="10535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근태/급여/평가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4401" y="3110508"/>
            <a:ext cx="1218902" cy="609302"/>
          </a:xfrm>
          <a:prstGeom prst="roundRect">
            <a:avLst>
              <a:gd name="adj" fmla="val 833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19745" y="3338959"/>
            <a:ext cx="477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모듈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64804" y="3110508"/>
            <a:ext cx="1657499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887434" y="3246983"/>
            <a:ext cx="1412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기술지원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87434" y="3450134"/>
            <a:ext cx="1412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AS/유지보수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23804" y="3110508"/>
            <a:ext cx="1657648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646432" y="3246983"/>
            <a:ext cx="1412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전자결재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46432" y="3450134"/>
            <a:ext cx="1412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82952" y="3110508"/>
            <a:ext cx="1657499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05582" y="3246983"/>
            <a:ext cx="1412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문서관리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05582" y="3450134"/>
            <a:ext cx="1412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도면/계약서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41952" y="3110508"/>
            <a:ext cx="1657648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64580" y="3246983"/>
            <a:ext cx="1412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알림/공지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64580" y="3450134"/>
            <a:ext cx="1412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메일/SMS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44401" y="3846761"/>
            <a:ext cx="1218902" cy="609302"/>
          </a:xfrm>
          <a:prstGeom prst="roundRect">
            <a:avLst>
              <a:gd name="adj" fmla="val 833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89248" y="4075212"/>
            <a:ext cx="335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764804" y="3846761"/>
            <a:ext cx="1657499" cy="609302"/>
          </a:xfrm>
          <a:prstGeom prst="roundRect">
            <a:avLst>
              <a:gd name="adj" fmla="val 8337"/>
            </a:avLst>
          </a:prstGeom>
          <a:solidFill>
            <a:srgbClr val="1C2833"/>
          </a:solidFill>
          <a:ln w="9525">
            <a:solidFill>
              <a:srgbClr val="1C28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887434" y="3983236"/>
            <a:ext cx="1412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Oracle Database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887434" y="4186386"/>
            <a:ext cx="1412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저장/관리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523804" y="3846761"/>
            <a:ext cx="1657648" cy="609302"/>
          </a:xfrm>
          <a:prstGeom prst="roundRect">
            <a:avLst>
              <a:gd name="adj" fmla="val 8337"/>
            </a:avLst>
          </a:prstGeom>
          <a:solidFill>
            <a:srgbClr val="1C2833"/>
          </a:solidFill>
          <a:ln w="9525">
            <a:solidFill>
              <a:srgbClr val="1C28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646432" y="3983236"/>
            <a:ext cx="1412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Server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46432" y="4186386"/>
            <a:ext cx="1412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애플리케이션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282952" y="3846761"/>
            <a:ext cx="1657499" cy="609302"/>
          </a:xfrm>
          <a:prstGeom prst="roundRect">
            <a:avLst>
              <a:gd name="adj" fmla="val 8337"/>
            </a:avLst>
          </a:prstGeom>
          <a:solidFill>
            <a:srgbClr val="1C2833"/>
          </a:solidFill>
          <a:ln w="9525">
            <a:solidFill>
              <a:srgbClr val="1C28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405582" y="3983236"/>
            <a:ext cx="1412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05582" y="4186386"/>
            <a:ext cx="1412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연동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041952" y="3846761"/>
            <a:ext cx="1657648" cy="609302"/>
          </a:xfrm>
          <a:prstGeom prst="roundRect">
            <a:avLst>
              <a:gd name="adj" fmla="val 8337"/>
            </a:avLst>
          </a:prstGeom>
          <a:solidFill>
            <a:srgbClr val="1C2833"/>
          </a:solidFill>
          <a:ln w="9525">
            <a:solidFill>
              <a:srgbClr val="1C28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164580" y="3983236"/>
            <a:ext cx="1412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클라우드/온프레미스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164580" y="4186386"/>
            <a:ext cx="1412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유연한 배포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201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2842" y="295275"/>
            <a:ext cx="187812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모듈 - 영업관리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57275"/>
            <a:ext cx="4000649" cy="434876"/>
          </a:xfrm>
          <a:prstGeom prst="roundRect">
            <a:avLst>
              <a:gd name="adj" fmla="val 11681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184225"/>
            <a:ext cx="3769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영업관리 모듈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4401" y="1492151"/>
            <a:ext cx="4000649" cy="339715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0287" y="1492151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01" y="4884539"/>
            <a:ext cx="40006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63" y="1492151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73340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2440" y="1619101"/>
            <a:ext cx="163706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고객정보 통합 관리 (거래처, 담당자)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0876" y="218107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2440" y="2066776"/>
            <a:ext cx="112472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견적서 작성 및 버전 관리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876" y="262875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2440" y="2514451"/>
            <a:ext cx="10239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수주 등록 및 계약 관리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876" y="307642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2440" y="2962126"/>
            <a:ext cx="11669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영업기회 파이프라인 관리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876" y="352410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2440" y="3409801"/>
            <a:ext cx="13261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목표 대비 실적 모니터링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876" y="397177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2440" y="3857476"/>
            <a:ext cx="129701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영업사원별 실적 분석 리포트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876" y="441945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2440" y="4305151"/>
            <a:ext cx="120487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알림 (납기, 계약만료)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8950" y="1057275"/>
            <a:ext cx="40806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프로세스 흐름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98950" y="145881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6461" y="1506438"/>
            <a:ext cx="54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051" y="1355675"/>
            <a:ext cx="3670548" cy="434876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038576" y="1355675"/>
            <a:ext cx="0" cy="434876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052" y="1431875"/>
            <a:ext cx="3465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영업기회 등록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75052" y="1590526"/>
            <a:ext cx="34655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잠재고객 발굴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58944" y="1866751"/>
            <a:ext cx="4080662" cy="152400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98950" y="219848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78276" y="2246114"/>
            <a:ext cx="711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051" y="2095351"/>
            <a:ext cx="3670548" cy="434876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038576" y="2095351"/>
            <a:ext cx="0" cy="434876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5052" y="2171551"/>
            <a:ext cx="3465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제출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75052" y="2330202"/>
            <a:ext cx="34655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견적서 작성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58944" y="2606427"/>
            <a:ext cx="4080662" cy="152400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98950" y="293816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76639" y="2985790"/>
            <a:ext cx="74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051" y="2835027"/>
            <a:ext cx="3670548" cy="434876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038576" y="2835027"/>
            <a:ext cx="0" cy="434876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75052" y="2911227"/>
            <a:ext cx="3465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수주 확정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75052" y="3069878"/>
            <a:ext cx="34655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58944" y="3346103"/>
            <a:ext cx="4080662" cy="152400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98950" y="367784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75597" y="3725466"/>
            <a:ext cx="76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051" y="3574703"/>
            <a:ext cx="3670548" cy="434876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038576" y="3574703"/>
            <a:ext cx="0" cy="434876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75052" y="3650903"/>
            <a:ext cx="3465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연계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75052" y="3809554"/>
            <a:ext cx="34655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 모듈 연동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201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2842" y="295275"/>
            <a:ext cx="22811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모듈 - 프로젝트관리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57275"/>
            <a:ext cx="3636913" cy="434876"/>
          </a:xfrm>
          <a:prstGeom prst="roundRect">
            <a:avLst>
              <a:gd name="adj" fmla="val 1168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184225"/>
            <a:ext cx="33987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프로젝트관리 모듈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4401" y="1492151"/>
            <a:ext cx="3636913" cy="339715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76551" y="1492151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01" y="4884539"/>
            <a:ext cx="3636913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63" y="1492151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73340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2440" y="1619101"/>
            <a:ext cx="14269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생성 및 기본정보 관리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0876" y="218107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2440" y="2066776"/>
            <a:ext cx="153368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기반 작업 분해 및 일정 수립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876" y="262875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2440" y="2514451"/>
            <a:ext cx="10239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배정 및 공수 관리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876" y="307642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2440" y="2962126"/>
            <a:ext cx="13261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진척률 자동 산출 및 모니터링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876" y="352410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2440" y="3409801"/>
            <a:ext cx="113443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이슈/리스크 등록 및 추적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876" y="397177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2440" y="3857476"/>
            <a:ext cx="112472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등록 및 버전 관리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876" y="441945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2440" y="4305151"/>
            <a:ext cx="129701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수익성 분석 리포트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35214" y="1057275"/>
            <a:ext cx="4451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간트 차트 기반 일정 관리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35214" y="1355675"/>
            <a:ext cx="4364385" cy="1752005"/>
          </a:xfrm>
          <a:prstGeom prst="roundRect">
            <a:avLst>
              <a:gd name="adj" fmla="val 29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87614" y="1535013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요구분석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49614" y="1508075"/>
            <a:ext cx="3297585" cy="177701"/>
          </a:xfrm>
          <a:prstGeom prst="roundRect">
            <a:avLst>
              <a:gd name="adj" fmla="val 14294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49614" y="1508075"/>
            <a:ext cx="659457" cy="177701"/>
          </a:xfrm>
          <a:prstGeom prst="roundRect">
            <a:avLst>
              <a:gd name="adj" fmla="val 14294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87614" y="1788914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49614" y="1761976"/>
            <a:ext cx="3297585" cy="177701"/>
          </a:xfrm>
          <a:prstGeom prst="roundRect">
            <a:avLst>
              <a:gd name="adj" fmla="val 14294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44170" y="1761976"/>
            <a:ext cx="824359" cy="177701"/>
          </a:xfrm>
          <a:prstGeom prst="roundRect">
            <a:avLst>
              <a:gd name="adj" fmla="val 14294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87614" y="2042815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49614" y="2015877"/>
            <a:ext cx="3297585" cy="177701"/>
          </a:xfrm>
          <a:prstGeom prst="roundRect">
            <a:avLst>
              <a:gd name="adj" fmla="val 14294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38875" y="2015877"/>
            <a:ext cx="1318915" cy="177701"/>
          </a:xfrm>
          <a:prstGeom prst="roundRect">
            <a:avLst>
              <a:gd name="adj" fmla="val 1429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87614" y="2296716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49614" y="2269778"/>
            <a:ext cx="3297585" cy="177701"/>
          </a:xfrm>
          <a:prstGeom prst="roundRect">
            <a:avLst>
              <a:gd name="adj" fmla="val 14294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28136" y="2269778"/>
            <a:ext cx="824359" cy="177701"/>
          </a:xfrm>
          <a:prstGeom prst="roundRect">
            <a:avLst>
              <a:gd name="adj" fmla="val 14294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87614" y="2550616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49614" y="2523679"/>
            <a:ext cx="3297585" cy="177701"/>
          </a:xfrm>
          <a:prstGeom prst="roundRect">
            <a:avLst>
              <a:gd name="adj" fmla="val 14294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87593" y="2523679"/>
            <a:ext cx="659457" cy="177701"/>
          </a:xfrm>
          <a:prstGeom prst="roundRect">
            <a:avLst>
              <a:gd name="adj" fmla="val 14294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487614" y="282833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665315" y="2839343"/>
            <a:ext cx="1568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946005" y="282833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23706" y="2839343"/>
            <a:ext cx="1568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404396" y="282833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582096" y="2839343"/>
            <a:ext cx="1568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862786" y="282833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40487" y="2839343"/>
            <a:ext cx="2351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397972" y="282833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575673" y="2839343"/>
            <a:ext cx="1568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2032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4182" y="295275"/>
            <a:ext cx="2392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모듈 - 재고/구매 관리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2794099" cy="415826"/>
          </a:xfrm>
          <a:prstGeom prst="roundRect">
            <a:avLst>
              <a:gd name="adj" fmla="val 1221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174700"/>
            <a:ext cx="25390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재고관리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463576"/>
            <a:ext cx="2794099" cy="2872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3737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01" y="4331494"/>
            <a:ext cx="27940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63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70482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2440" y="1590526"/>
            <a:ext cx="10157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품목 마스터 및 분류 체계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0876" y="2139702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2440" y="2025402"/>
            <a:ext cx="98566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입출고 이력 실시간 추적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0876" y="2574578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2440" y="2460278"/>
            <a:ext cx="92616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실사 및 조정 기능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0876" y="3009454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2440" y="2895154"/>
            <a:ext cx="77663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안전재고 알림 설정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0876" y="3444329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2440" y="3330029"/>
            <a:ext cx="89853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창고/위치별 재고 현황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0876" y="3879205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2440" y="3764905"/>
            <a:ext cx="92008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시리얼/LOT 번호 관리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9000" y="1047750"/>
            <a:ext cx="2794099" cy="415826"/>
          </a:xfrm>
          <a:prstGeom prst="roundRect">
            <a:avLst>
              <a:gd name="adj" fmla="val 12217"/>
            </a:avLst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81400" y="1174700"/>
            <a:ext cx="25390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구매관리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1463576"/>
            <a:ext cx="2794099" cy="2872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218337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4331494"/>
            <a:ext cx="27940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33763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5475" y="170482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97039" y="1590526"/>
            <a:ext cx="11649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구매요청 및 승인 워크플로우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65475" y="2139702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97039" y="2025402"/>
            <a:ext cx="80653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발주서 생성 및 전송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65475" y="2574578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97039" y="2460278"/>
            <a:ext cx="77663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협력업체 정보 관리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65475" y="3009454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97039" y="2895154"/>
            <a:ext cx="92616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입고 검수 및 품질 관리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65475" y="3444329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97039" y="3330029"/>
            <a:ext cx="77663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단가 히스토리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65475" y="3879205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97039" y="3764905"/>
            <a:ext cx="80653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구매 실적 분석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90739" y="10477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재고/구매 프로세스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2573" y="1327100"/>
            <a:ext cx="2508052" cy="466427"/>
          </a:xfrm>
          <a:prstGeom prst="roundRect">
            <a:avLst>
              <a:gd name="adj" fmla="val 10891"/>
            </a:avLst>
          </a:prstGeom>
          <a:solidFill>
            <a:srgbClr val="F5EEF8"/>
          </a:solidFill>
          <a:ln w="9525">
            <a:solidFill>
              <a:srgbClr val="8E44A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90739" y="1438126"/>
            <a:ext cx="23317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구매요청/발주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90739" y="1577727"/>
            <a:ext cx="2331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워크플로우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508230" y="1856929"/>
            <a:ext cx="98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2573" y="2072729"/>
            <a:ext cx="2508052" cy="466427"/>
          </a:xfrm>
          <a:prstGeom prst="roundRect">
            <a:avLst>
              <a:gd name="adj" fmla="val 10891"/>
            </a:avLst>
          </a:prstGeom>
          <a:solidFill>
            <a:srgbClr val="FEF5E7"/>
          </a:solidFill>
          <a:ln w="9525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90739" y="2183755"/>
            <a:ext cx="23317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입고/검수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90739" y="2323356"/>
            <a:ext cx="2331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확인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508230" y="2602557"/>
            <a:ext cx="98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2573" y="2818358"/>
            <a:ext cx="2508052" cy="466427"/>
          </a:xfrm>
          <a:prstGeom prst="roundRect">
            <a:avLst>
              <a:gd name="adj" fmla="val 10891"/>
            </a:avLst>
          </a:prstGeom>
          <a:solidFill>
            <a:srgbClr val="E8F8F5"/>
          </a:solidFill>
          <a:ln w="9525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90739" y="2929384"/>
            <a:ext cx="23317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등록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90739" y="3068985"/>
            <a:ext cx="2331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배정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508230" y="3348186"/>
            <a:ext cx="98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2573" y="3563987"/>
            <a:ext cx="2508052" cy="466427"/>
          </a:xfrm>
          <a:prstGeom prst="roundRect">
            <a:avLst>
              <a:gd name="adj" fmla="val 10891"/>
            </a:avLst>
          </a:prstGeom>
          <a:solidFill>
            <a:srgbClr val="EBF5FB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390739" y="3675013"/>
            <a:ext cx="23317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출고/사용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90739" y="3814614"/>
            <a:ext cx="2331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연계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201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2842" y="295275"/>
            <a:ext cx="19646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모듈 - 회계/재무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57275"/>
            <a:ext cx="4000649" cy="434876"/>
          </a:xfrm>
          <a:prstGeom prst="roundRect">
            <a:avLst>
              <a:gd name="adj" fmla="val 11681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184225"/>
            <a:ext cx="3769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회계/재무 모듈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4401" y="1492151"/>
            <a:ext cx="4000649" cy="339715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0287" y="1492151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01" y="4884539"/>
            <a:ext cx="40006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63" y="1492151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73340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2440" y="1619101"/>
            <a:ext cx="10239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전표 입력 및 자동 분개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0876" y="218107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2440" y="2066776"/>
            <a:ext cx="120593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매출/매입 세금계산서 관리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876" y="262875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2440" y="2514451"/>
            <a:ext cx="12643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채권/채무 관리 및 잔액 조회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876" y="307642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2440" y="2962126"/>
            <a:ext cx="12546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계획 및 현금 흐름 관리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876" y="352410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2440" y="3409801"/>
            <a:ext cx="9654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프로젝트별 원가 집계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876" y="397177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2440" y="3857476"/>
            <a:ext cx="122551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결산 마감 및 재무제표 생성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876" y="4419451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2440" y="4305151"/>
            <a:ext cx="110513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부가세/원천세 신고 지원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8950" y="1057275"/>
            <a:ext cx="40806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 분석 리포트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98950" y="1355675"/>
            <a:ext cx="4000649" cy="568226"/>
          </a:xfrm>
          <a:prstGeom prst="roundRect">
            <a:avLst>
              <a:gd name="adj" fmla="val 894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8433" y="1482626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손익계산서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88433" y="1673126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월별/분기별 손익 분석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98950" y="2025402"/>
            <a:ext cx="4000649" cy="568226"/>
          </a:xfrm>
          <a:prstGeom prst="roundRect">
            <a:avLst>
              <a:gd name="adj" fmla="val 894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88433" y="2152352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재무상태표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88433" y="2342852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자산/부채 현황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8950" y="2695129"/>
            <a:ext cx="4000649" cy="568226"/>
          </a:xfrm>
          <a:prstGeom prst="roundRect">
            <a:avLst>
              <a:gd name="adj" fmla="val 894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88433" y="2822079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현금흐름표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88433" y="3012579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운용 현황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98950" y="3364855"/>
            <a:ext cx="4000649" cy="568226"/>
          </a:xfrm>
          <a:prstGeom prst="roundRect">
            <a:avLst>
              <a:gd name="adj" fmla="val 894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88433" y="3491805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원가분석표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88433" y="3682305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수익성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98950" y="4085481"/>
            <a:ext cx="4000649" cy="487561"/>
          </a:xfrm>
          <a:prstGeom prst="rect">
            <a:avLst/>
          </a:prstGeom>
          <a:solidFill>
            <a:srgbClr val="FCF3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18000" y="4085481"/>
            <a:ext cx="0" cy="487561"/>
          </a:xfrm>
          <a:prstGeom prst="line">
            <a:avLst/>
          </a:prstGeom>
          <a:noFill/>
          <a:ln w="38100">
            <a:solidFill>
              <a:srgbClr val="F1C40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8551" y="4186982"/>
            <a:ext cx="383473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 포인트: 영업 수주, 구매 발주, 프로젝트 비용이 자동으로 회계 전표에 반영되어 이중 입력 없이 실시간 재무 현황 파악 가능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2032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4182" y="295275"/>
            <a:ext cx="1939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모듈 - 인사/급여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2984599" cy="415826"/>
          </a:xfrm>
          <a:prstGeom prst="roundRect">
            <a:avLst>
              <a:gd name="adj" fmla="val 1221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174700"/>
            <a:ext cx="27333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인사관리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463576"/>
            <a:ext cx="2984599" cy="2872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24238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01" y="4331494"/>
            <a:ext cx="29845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63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70482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2440" y="1590526"/>
            <a:ext cx="113519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사원 정보 및 인사 카드 관리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0876" y="2139702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2440" y="2025402"/>
            <a:ext cx="80653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조직도 및 부서 관리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0876" y="2574578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2440" y="2460278"/>
            <a:ext cx="119075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근태 관리 (출퇴근/휴가/연차)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0876" y="3009454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2440" y="2895154"/>
            <a:ext cx="92616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경력 및 자격 이력 관리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0876" y="3444329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2440" y="3330029"/>
            <a:ext cx="92616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평가 및 목표 관리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0876" y="3879205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2440" y="3764905"/>
            <a:ext cx="80653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훈련 이력 관리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00450" y="181927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 라이프사이클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9500" y="2098625"/>
            <a:ext cx="1905000" cy="2082701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746450" y="22255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34259" y="2282726"/>
            <a:ext cx="53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76551" y="22684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46450" y="25303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27562" y="2587526"/>
            <a:ext cx="675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76551" y="25732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46450" y="28351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26371" y="2892326"/>
            <a:ext cx="70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76551" y="28780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6450" y="31399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825329" y="3197126"/>
            <a:ext cx="721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076551" y="31828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46450" y="34447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26520" y="3501926"/>
            <a:ext cx="696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76551" y="34876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육성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46450" y="37495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825627" y="3806726"/>
            <a:ext cx="71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76551" y="37924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15000" y="1047750"/>
            <a:ext cx="2984599" cy="415826"/>
          </a:xfrm>
          <a:prstGeom prst="roundRect">
            <a:avLst>
              <a:gd name="adj" fmla="val 12217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867400" y="1174700"/>
            <a:ext cx="27333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급여관리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715000" y="1463576"/>
            <a:ext cx="2984599" cy="2872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8694837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15000" y="4331494"/>
            <a:ext cx="29845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19763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1475" y="1704826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83039" y="1590526"/>
            <a:ext cx="10157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급여 항목 및 계산식 설정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51475" y="2139702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83039" y="2025402"/>
            <a:ext cx="68706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월급여 자동 계산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851475" y="2574578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83039" y="2460278"/>
            <a:ext cx="75446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4대보험 자동 산출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851475" y="3009454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83039" y="2895154"/>
            <a:ext cx="77906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소득세/지방세 계산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851475" y="3444329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983039" y="3330029"/>
            <a:ext cx="65716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급여명세서 발급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51475" y="3879205"/>
            <a:ext cx="56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83039" y="3764905"/>
            <a:ext cx="56759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연말정산 지원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2047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5670" y="295275"/>
            <a:ext cx="106141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 방법론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1849" y="1057275"/>
            <a:ext cx="8420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Agile 기반 단계적 구축 방법론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381125"/>
            <a:ext cx="1569839" cy="479227"/>
          </a:xfrm>
          <a:prstGeom prst="roundRect">
            <a:avLst>
              <a:gd name="adj" fmla="val 106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2233" y="1482626"/>
            <a:ext cx="13941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2233" y="1606451"/>
            <a:ext cx="1394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4401" y="1860352"/>
            <a:ext cx="1569839" cy="11014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009477" y="1860352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401" y="2957066"/>
            <a:ext cx="156983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163" y="1860352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427" y="1961852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업무 분석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55427" y="2117378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정의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55427" y="2272903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 프로세스 설계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55427" y="2428429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표준화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115741" y="1381125"/>
            <a:ext cx="1569839" cy="479227"/>
          </a:xfrm>
          <a:prstGeom prst="roundRect">
            <a:avLst>
              <a:gd name="adj" fmla="val 106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03573" y="1482626"/>
            <a:ext cx="13941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03573" y="1606451"/>
            <a:ext cx="1394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15741" y="1860352"/>
            <a:ext cx="1569839" cy="11014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680817" y="1860352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15741" y="2957066"/>
            <a:ext cx="156983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20503" y="1860352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26766" y="1961852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아키텍처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226766" y="2117378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화면/리포트 설계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26766" y="2272903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 정의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226766" y="2428429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체계 수립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787080" y="1381125"/>
            <a:ext cx="1569839" cy="479227"/>
          </a:xfrm>
          <a:prstGeom prst="roundRect">
            <a:avLst>
              <a:gd name="adj" fmla="val 106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74913" y="1482626"/>
            <a:ext cx="13941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74913" y="1606451"/>
            <a:ext cx="1394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87080" y="1860352"/>
            <a:ext cx="1569839" cy="11014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352157" y="1860352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87080" y="2957066"/>
            <a:ext cx="156983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1843" y="1860352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98106" y="1961852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모듈별 개발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98106" y="2117378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테스트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98106" y="2272903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마이그레이션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98106" y="2428429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테스트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58420" y="1381125"/>
            <a:ext cx="1569839" cy="479227"/>
          </a:xfrm>
          <a:prstGeom prst="roundRect">
            <a:avLst>
              <a:gd name="adj" fmla="val 106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46253" y="1482626"/>
            <a:ext cx="13941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46253" y="1606451"/>
            <a:ext cx="1394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58420" y="1860352"/>
            <a:ext cx="1569839" cy="11014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7023497" y="1860352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58420" y="2957066"/>
            <a:ext cx="156983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63183" y="1860352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69446" y="1961852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테스트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569446" y="2117378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최적화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569446" y="2272903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점검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69446" y="2428429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교육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29760" y="1381125"/>
            <a:ext cx="1569839" cy="479227"/>
          </a:xfrm>
          <a:prstGeom prst="roundRect">
            <a:avLst>
              <a:gd name="adj" fmla="val 106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217593" y="1482626"/>
            <a:ext cx="13941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17593" y="1606451"/>
            <a:ext cx="1394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안정화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29760" y="1860352"/>
            <a:ext cx="1569839" cy="11014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8694837" y="1860352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29760" y="2957066"/>
            <a:ext cx="156983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34523" y="1860352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40786" y="1961852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오픈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240786" y="2117378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병행 운영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240786" y="2272903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대응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240786" y="2428429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이관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44401" y="3114229"/>
            <a:ext cx="8255198" cy="517327"/>
          </a:xfrm>
          <a:prstGeom prst="roundRect">
            <a:avLst>
              <a:gd name="adj" fmla="val 9820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284753" y="3241179"/>
            <a:ext cx="752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경영진 지원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284753" y="3399830"/>
            <a:ext cx="7520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Top-down 의사결정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336660" y="3241179"/>
            <a:ext cx="7506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현업 참여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336660" y="3399830"/>
            <a:ext cx="7506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실사용자 피드백 반영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387362" y="3241179"/>
            <a:ext cx="7506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변화관리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387362" y="3399830"/>
            <a:ext cx="7506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및 커뮤니케이션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7441211" y="3241179"/>
            <a:ext cx="4145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품질관리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441211" y="3399830"/>
            <a:ext cx="4145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검증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2047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5670" y="295275"/>
            <a:ext cx="12628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일정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1849" y="1057275"/>
            <a:ext cx="8420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6개월 구축 일정 (예시)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4401" y="1600200"/>
            <a:ext cx="8255198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0643" y="1381125"/>
            <a:ext cx="14032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06409" y="1381125"/>
            <a:ext cx="1403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82326" y="1381125"/>
            <a:ext cx="14032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58092" y="1381125"/>
            <a:ext cx="1403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34008" y="1381125"/>
            <a:ext cx="1403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09924" y="1381125"/>
            <a:ext cx="1403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4401" y="1796951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11163" y="173667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9980" y="173667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8946" y="173667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7763" y="173667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6728" y="173667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5545" y="173667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6401" y="1761976"/>
            <a:ext cx="1248221" cy="203150"/>
          </a:xfrm>
          <a:prstGeom prst="roundRect">
            <a:avLst>
              <a:gd name="adj" fmla="val 1875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76846" y="1811089"/>
            <a:ext cx="3134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요구분석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44401" y="2152352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11163" y="209207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59980" y="209207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8946" y="209207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7763" y="209207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6728" y="209207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5545" y="209207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2976" y="2117378"/>
            <a:ext cx="1560761" cy="203150"/>
          </a:xfrm>
          <a:prstGeom prst="roundRect">
            <a:avLst>
              <a:gd name="adj" fmla="val 18755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721025" y="2166491"/>
            <a:ext cx="4126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설계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44401" y="2507754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11163" y="2447479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59980" y="2447479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08946" y="2447479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57763" y="2447479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06728" y="2447479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55545" y="2447479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79700" y="2472779"/>
            <a:ext cx="2809875" cy="203150"/>
          </a:xfrm>
          <a:prstGeom prst="roundRect">
            <a:avLst>
              <a:gd name="adj" fmla="val 1875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20778" y="2521893"/>
            <a:ext cx="3342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모듈 개발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44401" y="2863155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211163" y="280288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9980" y="280288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08946" y="280288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57763" y="280288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06728" y="280288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5545" y="280288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64646" y="2828181"/>
            <a:ext cx="1560761" cy="203150"/>
          </a:xfrm>
          <a:prstGeom prst="roundRect">
            <a:avLst>
              <a:gd name="adj" fmla="val 1875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29759" y="2877294"/>
            <a:ext cx="2351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44401" y="3218557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안정화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211163" y="315828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59980" y="315828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08946" y="315828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57763" y="315828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06728" y="315828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55545" y="315828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3761" y="3183582"/>
            <a:ext cx="2185690" cy="203150"/>
          </a:xfrm>
          <a:prstGeom prst="roundRect">
            <a:avLst>
              <a:gd name="adj" fmla="val 18755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529661" y="3232696"/>
            <a:ext cx="1568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44401" y="3564582"/>
            <a:ext cx="1549450" cy="647402"/>
          </a:xfrm>
          <a:prstGeom prst="roundRect">
            <a:avLst>
              <a:gd name="adj" fmla="val 784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444401" y="3574107"/>
            <a:ext cx="154945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2437" y="3685133"/>
            <a:ext cx="13733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M+1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32437" y="3847058"/>
            <a:ext cx="1373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착수 보고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32437" y="4005709"/>
            <a:ext cx="13733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킥오프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120801" y="3564582"/>
            <a:ext cx="1549598" cy="647402"/>
          </a:xfrm>
          <a:prstGeom prst="roundRect">
            <a:avLst>
              <a:gd name="adj" fmla="val 784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2120801" y="3574107"/>
            <a:ext cx="1549598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08836" y="3685133"/>
            <a:ext cx="13735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M+2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208836" y="3847058"/>
            <a:ext cx="1373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완료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208836" y="4005709"/>
            <a:ext cx="13735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확정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797350" y="3564582"/>
            <a:ext cx="1549450" cy="647402"/>
          </a:xfrm>
          <a:prstGeom prst="roundRect">
            <a:avLst>
              <a:gd name="adj" fmla="val 784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3797350" y="3574107"/>
            <a:ext cx="154945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85386" y="3685133"/>
            <a:ext cx="13733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M+4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885386" y="3847058"/>
            <a:ext cx="1373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완료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885386" y="4005709"/>
            <a:ext cx="13733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테스트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473750" y="3564582"/>
            <a:ext cx="1549450" cy="647402"/>
          </a:xfrm>
          <a:prstGeom prst="roundRect">
            <a:avLst>
              <a:gd name="adj" fmla="val 784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5473750" y="3574107"/>
            <a:ext cx="154945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61786" y="3685133"/>
            <a:ext cx="13733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M+5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561786" y="3847058"/>
            <a:ext cx="1373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UAT 완료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561786" y="4005709"/>
            <a:ext cx="13733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승인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150150" y="3564582"/>
            <a:ext cx="1549450" cy="647402"/>
          </a:xfrm>
          <a:prstGeom prst="roundRect">
            <a:avLst>
              <a:gd name="adj" fmla="val 784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7150150" y="3574107"/>
            <a:ext cx="154945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38186" y="3685133"/>
            <a:ext cx="13733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M+6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238186" y="3847058"/>
            <a:ext cx="1373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Grand Open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238186" y="4005709"/>
            <a:ext cx="13733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본격 운영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200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1056" y="295275"/>
            <a:ext cx="129686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비용 (안)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57275"/>
            <a:ext cx="4800749" cy="2402086"/>
          </a:xfrm>
          <a:prstGeom prst="roundRect">
            <a:avLst>
              <a:gd name="adj" fmla="val 21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1057275"/>
            <a:ext cx="4800749" cy="3363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6801" y="1158776"/>
            <a:ext cx="2038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74986" y="1158776"/>
            <a:ext cx="1019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4076" y="1158776"/>
            <a:ext cx="1528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(백만원)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4401" y="1734741"/>
            <a:ext cx="48007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801" y="1495127"/>
            <a:ext cx="2038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소프트웨어 개발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4986" y="1495127"/>
            <a:ext cx="1019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4076" y="1495127"/>
            <a:ext cx="1528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4401" y="2080617"/>
            <a:ext cx="48007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801" y="1841004"/>
            <a:ext cx="2038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하드웨어/인프라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74986" y="1841004"/>
            <a:ext cx="1019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4076" y="1841004"/>
            <a:ext cx="1528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4401" y="2426494"/>
            <a:ext cx="48007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801" y="2186880"/>
            <a:ext cx="2038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 컨설팅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74986" y="2186880"/>
            <a:ext cx="1019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4076" y="2186880"/>
            <a:ext cx="1528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4401" y="2772370"/>
            <a:ext cx="48007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801" y="2532757"/>
            <a:ext cx="2038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교육/변화관리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74986" y="2532757"/>
            <a:ext cx="1019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4076" y="2532757"/>
            <a:ext cx="1528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4401" y="3118247"/>
            <a:ext cx="48007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801" y="2878634"/>
            <a:ext cx="2038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 (연간)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74986" y="2878634"/>
            <a:ext cx="1019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4076" y="2878634"/>
            <a:ext cx="1528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4401" y="3123009"/>
            <a:ext cx="4800749" cy="336352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6801" y="3224510"/>
            <a:ext cx="2038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 비용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74986" y="3224510"/>
            <a:ext cx="1019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4076" y="3224510"/>
            <a:ext cx="1528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4401" y="3560862"/>
            <a:ext cx="48967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700" i="1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상기 금액은 예시이며, 상세 견적은 요구사항 분석 후 확정됩니다.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67045" y="1057275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비용 구성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99050" y="1336625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52951" y="1346150"/>
            <a:ext cx="2659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 개발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61623" y="1346150"/>
            <a:ext cx="2427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99050" y="1565225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52951" y="1574750"/>
            <a:ext cx="26635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HW/인프라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65790" y="1574750"/>
            <a:ext cx="2384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99050" y="1793825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52951" y="1803350"/>
            <a:ext cx="2680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컨설팅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82608" y="1803350"/>
            <a:ext cx="221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99050" y="2022425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752951" y="2031950"/>
            <a:ext cx="2680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82608" y="2031950"/>
            <a:ext cx="221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99050" y="2251025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752951" y="2260550"/>
            <a:ext cx="2680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82757" y="2260550"/>
            <a:ext cx="221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99050" y="2593925"/>
            <a:ext cx="3200549" cy="768251"/>
          </a:xfrm>
          <a:prstGeom prst="roundRect">
            <a:avLst>
              <a:gd name="adj" fmla="val 661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622493" y="2746325"/>
            <a:ext cx="2953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Investment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22493" y="2933551"/>
            <a:ext cx="295366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300M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2035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4479" y="295275"/>
            <a:ext cx="856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1968550" cy="958751"/>
          </a:xfrm>
          <a:prstGeom prst="roundRect">
            <a:avLst>
              <a:gd name="adj" fmla="val 794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0163" y="1200150"/>
            <a:ext cx="1697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0163" y="1543050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효율 향상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0163" y="1749326"/>
            <a:ext cx="1697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 자동화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539901" y="1047750"/>
            <a:ext cx="1968698" cy="958751"/>
          </a:xfrm>
          <a:prstGeom prst="roundRect">
            <a:avLst>
              <a:gd name="adj" fmla="val 794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75662" y="1200150"/>
            <a:ext cx="1697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75662" y="1543050"/>
            <a:ext cx="16971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 작성 단축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5662" y="1749326"/>
            <a:ext cx="16971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리포트 생성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35550" y="1047750"/>
            <a:ext cx="1968550" cy="958751"/>
          </a:xfrm>
          <a:prstGeom prst="roundRect">
            <a:avLst>
              <a:gd name="adj" fmla="val 794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1312" y="1200150"/>
            <a:ext cx="1697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71312" y="1543050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비용 절감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71312" y="1749326"/>
            <a:ext cx="1697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재고 유지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731050" y="1047750"/>
            <a:ext cx="1968550" cy="958751"/>
          </a:xfrm>
          <a:prstGeom prst="roundRect">
            <a:avLst>
              <a:gd name="adj" fmla="val 794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66812" y="1200150"/>
            <a:ext cx="1697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66812" y="1543050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 속도 향상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66812" y="1749326"/>
            <a:ext cx="1697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대시보드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4401" y="2158901"/>
            <a:ext cx="4112996" cy="23485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정량적 효과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4401" y="2495252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3457" y="2539603"/>
            <a:ext cx="661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052" y="2495252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인건비 절감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052" y="2663428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업무 제거로 연간 인건비 15% 절감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4401" y="2871639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3457" y="2915989"/>
            <a:ext cx="661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9052" y="2871639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증가 기여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052" y="3039814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기회 관리 강화로 수주율 10% 향상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4401" y="324802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3457" y="3292376"/>
            <a:ext cx="661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9052" y="3248025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비용 최적화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052" y="3416201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 효율화로 운영비 12% 절감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7250" y="2158901"/>
            <a:ext cx="4112996" cy="23485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정성적 효과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7250" y="2495252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36306" y="2539603"/>
            <a:ext cx="661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71901" y="2495252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기반 경영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71901" y="2663428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과학적 의사결정 체계 구축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67250" y="2871639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36306" y="2915989"/>
            <a:ext cx="661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71901" y="2871639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표준화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71901" y="3039814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 기반 프로세스 정립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67250" y="324802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36306" y="3292376"/>
            <a:ext cx="661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71901" y="3248025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신뢰도 제고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71901" y="3416201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 시스템으로 대외 신뢰성 강화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44401" y="3751362"/>
            <a:ext cx="8255198" cy="603052"/>
          </a:xfrm>
          <a:prstGeom prst="roundRect">
            <a:avLst>
              <a:gd name="adj" fmla="val 842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98302" y="3895725"/>
            <a:ext cx="1600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투자 회수 기간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8302" y="4038600"/>
            <a:ext cx="16006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2.5년 내 투자비 회수 예상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160236" y="3878312"/>
            <a:ext cx="5044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160236" y="4113163"/>
            <a:ext cx="5044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ROI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972502" y="3878312"/>
            <a:ext cx="4778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5년+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972502" y="4113163"/>
            <a:ext cx="4778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수명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93340" y="354657"/>
            <a:ext cx="415717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493340" y="900708"/>
            <a:ext cx="41571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선진인포텍 ERP 시스템 구축 제안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534096" y="1491258"/>
            <a:ext cx="4075658" cy="1056382"/>
          </a:xfrm>
          <a:prstGeom prst="roundRect">
            <a:avLst>
              <a:gd name="adj" fmla="val 721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81960" y="1745159"/>
            <a:ext cx="337993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200" b="1" dirty="0">
                <a:solidFill>
                  <a:srgbClr val="3498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ERP 시스템</a:t>
            </a:r>
            <a:pPr algn="ctr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통해 선진인포텍의</a:t>
            </a:r>
            <a:endParaRPr lang="en-US" sz="12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업무 효율화와 데이터 기반 경영을 함께 실현하겠습니다.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6223" y="2928640"/>
            <a:ext cx="6819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86223" y="3122265"/>
            <a:ext cx="6819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ERP 구축팀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32067" y="2928640"/>
            <a:ext cx="10585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32067" y="3122265"/>
            <a:ext cx="10585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erp@sunjin.net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0326" y="2928640"/>
            <a:ext cx="11115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50326" y="3122265"/>
            <a:ext cx="11115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02-XXXX-XXXX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24598" y="3601641"/>
            <a:ext cx="1294507" cy="818852"/>
          </a:xfrm>
          <a:prstGeom prst="roundRect">
            <a:avLst>
              <a:gd name="adj" fmla="val 3101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35452" y="3906292"/>
            <a:ext cx="6727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 and 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3340" y="4674394"/>
            <a:ext cx="4157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선진인포텍(주)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선진인포텍(주)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선진인포텍 ERP 시스템 구축 제안서</dc:title>
  <dc:subject>ERP 시스템 구축 제안</dc:subject>
  <dc:creator>ERP 구축팀</dc:creator>
  <cp:lastModifiedBy>ERP 구축팀</cp:lastModifiedBy>
  <cp:revision>1</cp:revision>
  <dcterms:created xsi:type="dcterms:W3CDTF">2026-01-28T02:38:16Z</dcterms:created>
  <dcterms:modified xsi:type="dcterms:W3CDTF">2026-01-28T02:38:16Z</dcterms:modified>
</cp:coreProperties>
</file>